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90aff04c03f4e91" /><Relationship Type="http://schemas.openxmlformats.org/officeDocument/2006/relationships/extended-properties" Target="/docProps/app.xml" Id="Ra56708e1c6034d91" /><Relationship Type="http://schemas.openxmlformats.org/officeDocument/2006/relationships/officeDocument" Target="/ppt/presentation.xml" Id="Rcc45bfa5fc554f2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388b46a508744f3"/>
  </p:sldMasterIdLst>
  <p:notesMasterIdLst>
    <p:notesMasterId xmlns:r="http://schemas.openxmlformats.org/officeDocument/2006/relationships" r:id="R86466bd1e2ac4f22"/>
  </p:notesMasterIdLst>
  <p:sldIdLst>
    <p:sldId xmlns:r="http://schemas.openxmlformats.org/officeDocument/2006/relationships" id="256" r:id="R7919f64442fa4944"/>
    <p:sldId xmlns:r="http://schemas.openxmlformats.org/officeDocument/2006/relationships" id="257" r:id="R3397121b41b246af"/>
    <p:sldId xmlns:r="http://schemas.openxmlformats.org/officeDocument/2006/relationships" id="258" r:id="R9355bc0de22c4d2a"/>
    <p:sldId xmlns:r="http://schemas.openxmlformats.org/officeDocument/2006/relationships" id="259" r:id="Rca68e165ab3c4fd5"/>
    <p:sldId xmlns:r="http://schemas.openxmlformats.org/officeDocument/2006/relationships" id="260" r:id="R322bcb32f79e431d"/>
    <p:sldId xmlns:r="http://schemas.openxmlformats.org/officeDocument/2006/relationships" id="261" r:id="Racd2bd5255b04bfe"/>
    <p:sldId xmlns:r="http://schemas.openxmlformats.org/officeDocument/2006/relationships" id="262" r:id="R83c070b848904746"/>
    <p:sldId xmlns:r="http://schemas.openxmlformats.org/officeDocument/2006/relationships" id="263" r:id="R8db2f7706a114a93"/>
    <p:sldId xmlns:r="http://schemas.openxmlformats.org/officeDocument/2006/relationships" id="264" r:id="R45276be5f4ab43e2"/>
    <p:sldId xmlns:r="http://schemas.openxmlformats.org/officeDocument/2006/relationships" id="265" r:id="R5dfbf4a19720439b"/>
    <p:sldId xmlns:r="http://schemas.openxmlformats.org/officeDocument/2006/relationships" id="266" r:id="R52646c2240814cca"/>
    <p:sldId xmlns:r="http://schemas.openxmlformats.org/officeDocument/2006/relationships" id="267" r:id="R97150a881cc84692"/>
    <p:sldId xmlns:r="http://schemas.openxmlformats.org/officeDocument/2006/relationships" id="268" r:id="R83186d34d6784af7"/>
    <p:sldId xmlns:r="http://schemas.openxmlformats.org/officeDocument/2006/relationships" id="269" r:id="Ra137b74eac7d497c"/>
    <p:sldId xmlns:r="http://schemas.openxmlformats.org/officeDocument/2006/relationships" id="270" r:id="Rba37b6b685d24779"/>
    <p:sldId xmlns:r="http://schemas.openxmlformats.org/officeDocument/2006/relationships" id="271" r:id="Rac1b968d8b5548ae"/>
    <p:sldId xmlns:r="http://schemas.openxmlformats.org/officeDocument/2006/relationships" id="272" r:id="R3b26c45f7a6a4d89"/>
    <p:sldId xmlns:r="http://schemas.openxmlformats.org/officeDocument/2006/relationships" id="273" r:id="Rb9223bde70004bc3"/>
    <p:sldId xmlns:r="http://schemas.openxmlformats.org/officeDocument/2006/relationships" id="274" r:id="R17e9cd72a5d4466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50be85441dc4f0b" /><Relationship Type="http://schemas.openxmlformats.org/officeDocument/2006/relationships/slideMaster" Target="/ppt/slideMasters/slideMaster1.xml" Id="Rb388b46a508744f3" /><Relationship Type="http://schemas.openxmlformats.org/officeDocument/2006/relationships/notesMaster" Target="/ppt/notesMasters/notesMaster1.xml" Id="R86466bd1e2ac4f22" /><Relationship Type="http://schemas.openxmlformats.org/officeDocument/2006/relationships/presProps" Target="/ppt/presProps.xml" Id="R12e91b4898d9422a" /><Relationship Type="http://schemas.openxmlformats.org/officeDocument/2006/relationships/viewProps" Target="/ppt/viewProps.xml" Id="R88e605bac4ee4110" /><Relationship Type="http://schemas.openxmlformats.org/officeDocument/2006/relationships/tableStyles" Target="/ppt/tableStyles.xml" Id="Rf600dc57a4da4f7d" /><Relationship Type="http://schemas.openxmlformats.org/officeDocument/2006/relationships/slide" Target="/ppt/slides/slide1.xml" Id="R7919f64442fa4944" /><Relationship Type="http://schemas.openxmlformats.org/officeDocument/2006/relationships/slide" Target="/ppt/slides/slide2.xml" Id="R3397121b41b246af" /><Relationship Type="http://schemas.openxmlformats.org/officeDocument/2006/relationships/slide" Target="/ppt/slides/slide3.xml" Id="R9355bc0de22c4d2a" /><Relationship Type="http://schemas.openxmlformats.org/officeDocument/2006/relationships/slide" Target="/ppt/slides/slide4.xml" Id="Rca68e165ab3c4fd5" /><Relationship Type="http://schemas.openxmlformats.org/officeDocument/2006/relationships/slide" Target="/ppt/slides/slide5.xml" Id="R322bcb32f79e431d" /><Relationship Type="http://schemas.openxmlformats.org/officeDocument/2006/relationships/slide" Target="/ppt/slides/slide6.xml" Id="Racd2bd5255b04bfe" /><Relationship Type="http://schemas.openxmlformats.org/officeDocument/2006/relationships/slide" Target="/ppt/slides/slide7.xml" Id="R83c070b848904746" /><Relationship Type="http://schemas.openxmlformats.org/officeDocument/2006/relationships/slide" Target="/ppt/slides/slide8.xml" Id="R8db2f7706a114a93" /><Relationship Type="http://schemas.openxmlformats.org/officeDocument/2006/relationships/slide" Target="/ppt/slides/slide9.xml" Id="R45276be5f4ab43e2" /><Relationship Type="http://schemas.openxmlformats.org/officeDocument/2006/relationships/slide" Target="/ppt/slides/slide10.xml" Id="R5dfbf4a19720439b" /><Relationship Type="http://schemas.openxmlformats.org/officeDocument/2006/relationships/slide" Target="/ppt/slides/slide11.xml" Id="R52646c2240814cca" /><Relationship Type="http://schemas.openxmlformats.org/officeDocument/2006/relationships/slide" Target="/ppt/slides/slide12.xml" Id="R97150a881cc84692" /><Relationship Type="http://schemas.openxmlformats.org/officeDocument/2006/relationships/slide" Target="/ppt/slides/slide13.xml" Id="R83186d34d6784af7" /><Relationship Type="http://schemas.openxmlformats.org/officeDocument/2006/relationships/slide" Target="/ppt/slides/slide14.xml" Id="Ra137b74eac7d497c" /><Relationship Type="http://schemas.openxmlformats.org/officeDocument/2006/relationships/slide" Target="/ppt/slides/slide15.xml" Id="Rba37b6b685d24779" /><Relationship Type="http://schemas.openxmlformats.org/officeDocument/2006/relationships/slide" Target="/ppt/slides/slide16.xml" Id="Rac1b968d8b5548ae" /><Relationship Type="http://schemas.openxmlformats.org/officeDocument/2006/relationships/slide" Target="/ppt/slides/slide17.xml" Id="R3b26c45f7a6a4d89" /><Relationship Type="http://schemas.openxmlformats.org/officeDocument/2006/relationships/slide" Target="/ppt/slides/slide18.xml" Id="Rb9223bde70004bc3" /><Relationship Type="http://schemas.openxmlformats.org/officeDocument/2006/relationships/slide" Target="/ppt/slides/slide19.xml" Id="R17e9cd72a5d4466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ce1964fa3eb40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b619e915f5d4017" /><Relationship Type="http://schemas.openxmlformats.org/officeDocument/2006/relationships/notesMaster" Target="/ppt/notesMasters/notesMaster1.xml" Id="R8d9182d8008a450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37615b21dc646a7" /><Relationship Type="http://schemas.openxmlformats.org/officeDocument/2006/relationships/notesMaster" Target="/ppt/notesMasters/notesMaster1.xml" Id="R55bdb16504c144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08958047e424c0c" /><Relationship Type="http://schemas.openxmlformats.org/officeDocument/2006/relationships/notesMaster" Target="/ppt/notesMasters/notesMaster1.xml" Id="Rfbb058c63f4c4a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e53706d5294887" /><Relationship Type="http://schemas.openxmlformats.org/officeDocument/2006/relationships/notesMaster" Target="/ppt/notesMasters/notesMaster1.xml" Id="R3f1bd20eebb54a6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5fcaaa89dc34c19" /><Relationship Type="http://schemas.openxmlformats.org/officeDocument/2006/relationships/notesMaster" Target="/ppt/notesMasters/notesMaster1.xml" Id="R0309b53d8ab048b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138bf7c294a4f64" /><Relationship Type="http://schemas.openxmlformats.org/officeDocument/2006/relationships/notesMaster" Target="/ppt/notesMasters/notesMaster1.xml" Id="Rb3fda5ae32494d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8b0fedaaf914d98" /><Relationship Type="http://schemas.openxmlformats.org/officeDocument/2006/relationships/notesMaster" Target="/ppt/notesMasters/notesMaster1.xml" Id="R3f6e6b2499f3457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d7dc7d2ac484f75" /><Relationship Type="http://schemas.openxmlformats.org/officeDocument/2006/relationships/notesMaster" Target="/ppt/notesMasters/notesMaster1.xml" Id="Rf8125f3254ae4a8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c79d19ce4204637" /><Relationship Type="http://schemas.openxmlformats.org/officeDocument/2006/relationships/notesMaster" Target="/ppt/notesMasters/notesMaster1.xml" Id="R471364bbfd8b4d4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70459bd0a834f08" /><Relationship Type="http://schemas.openxmlformats.org/officeDocument/2006/relationships/notesMaster" Target="/ppt/notesMasters/notesMaster1.xml" Id="R3072050aea9649c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97e4b2526724b70" /><Relationship Type="http://schemas.openxmlformats.org/officeDocument/2006/relationships/notesMaster" Target="/ppt/notesMasters/notesMaster1.xml" Id="Rc9d27e5c46ef49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4d836b8938494e" /><Relationship Type="http://schemas.openxmlformats.org/officeDocument/2006/relationships/notesMaster" Target="/ppt/notesMasters/notesMaster1.xml" Id="Rfd4d058b6c214f6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a8ec8357182481e" /><Relationship Type="http://schemas.openxmlformats.org/officeDocument/2006/relationships/notesMaster" Target="/ppt/notesMasters/notesMaster1.xml" Id="R9008b1910b7a44b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4a896e9107034b2f" /><Relationship Type="http://schemas.openxmlformats.org/officeDocument/2006/relationships/notesMaster" Target="/ppt/notesMasters/notesMaster1.xml" Id="R4e83de29c0e3472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1cff7811e8047c3" /><Relationship Type="http://schemas.openxmlformats.org/officeDocument/2006/relationships/notesMaster" Target="/ppt/notesMasters/notesMaster1.xml" Id="R1d52914dc112461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bed516e147849ef" /><Relationship Type="http://schemas.openxmlformats.org/officeDocument/2006/relationships/notesMaster" Target="/ppt/notesMasters/notesMaster1.xml" Id="Re979e3cad7024c1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b625ffe2bcca4ba9" /><Relationship Type="http://schemas.openxmlformats.org/officeDocument/2006/relationships/notesMaster" Target="/ppt/notesMasters/notesMaster1.xml" Id="R79629d5d4dfc439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0a53b1acced4781" /><Relationship Type="http://schemas.openxmlformats.org/officeDocument/2006/relationships/notesMaster" Target="/ppt/notesMasters/notesMaster1.xml" Id="R877d4d53abe449b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ae230ea7ab6478b" /><Relationship Type="http://schemas.openxmlformats.org/officeDocument/2006/relationships/notesMaster" Target="/ppt/notesMasters/notesMaster1.xml" Id="R501ce28fc83f4a2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7ff035453d430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eb7ed2239064abe" /><Relationship Type="http://schemas.openxmlformats.org/officeDocument/2006/relationships/slideLayout" Target="/ppt/slideLayouts/slideLayout1.xml" Id="R8f9213db2d344d1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9213db2d344d1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c216ffc59842d2" /><Relationship Type="http://schemas.openxmlformats.org/officeDocument/2006/relationships/notesSlide" Target="/ppt/notesSlides/notesSlide1.xml" Id="R95b468aa7cd64f5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b53823af224ab5" /><Relationship Type="http://schemas.openxmlformats.org/officeDocument/2006/relationships/image" Target="/ppt/media/image.png" Id="R69092c09c047442b" /><Relationship Type="http://schemas.openxmlformats.org/officeDocument/2006/relationships/notesSlide" Target="/ppt/notesSlides/notesSlide2.xml" Id="Rb3be008f6443483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b7fd75d7a74588" /><Relationship Type="http://schemas.openxmlformats.org/officeDocument/2006/relationships/image" Target="/ppt/media/image.jpeg" Id="R7339b888523f4d70" /><Relationship Type="http://schemas.openxmlformats.org/officeDocument/2006/relationships/notesSlide" Target="/ppt/notesSlides/notesSlide3.xml" Id="Rfac9996fc4c54b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e792a452b24ae6" /><Relationship Type="http://schemas.openxmlformats.org/officeDocument/2006/relationships/notesSlide" Target="/ppt/notesSlides/notesSlide4.xml" Id="Rf9c8f794be764c2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501b2aa03642be" /><Relationship Type="http://schemas.openxmlformats.org/officeDocument/2006/relationships/notesSlide" Target="/ppt/notesSlides/notesSlide5.xml" Id="Rfe6c939afb1c4a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14e48cab274d0d" /><Relationship Type="http://schemas.openxmlformats.org/officeDocument/2006/relationships/notesSlide" Target="/ppt/notesSlides/notesSlide6.xml" Id="R69eb03f44357436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b20a694abb407e" /><Relationship Type="http://schemas.openxmlformats.org/officeDocument/2006/relationships/notesSlide" Target="/ppt/notesSlides/notesSlide7.xml" Id="R27c3baa19b4248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dc5c944be540b7" /><Relationship Type="http://schemas.openxmlformats.org/officeDocument/2006/relationships/notesSlide" Target="/ppt/notesSlides/notesSlide8.xml" Id="R4031575c4cb34d8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0e38b21feb4be3" /><Relationship Type="http://schemas.openxmlformats.org/officeDocument/2006/relationships/notesSlide" Target="/ppt/notesSlides/notesSlide9.xml" Id="R2c0bffcdb3bc465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28c367580e46ef" /><Relationship Type="http://schemas.openxmlformats.org/officeDocument/2006/relationships/notesSlide" Target="/ppt/notesSlides/notesSlide10.xml" Id="R5deef17d1181496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cba94ece894d7e" /><Relationship Type="http://schemas.openxmlformats.org/officeDocument/2006/relationships/notesSlide" Target="/ppt/notesSlides/notesSlide11.xml" Id="Re257566cf29a4de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24b868de004c49" /><Relationship Type="http://schemas.openxmlformats.org/officeDocument/2006/relationships/image" Target="/ppt/media/image2.png" Id="R5d503eb46c274d06" /><Relationship Type="http://schemas.openxmlformats.org/officeDocument/2006/relationships/notesSlide" Target="/ppt/notesSlides/notesSlide12.xml" Id="R6ead8d0fa7284b2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72ccf00ce40c9" /><Relationship Type="http://schemas.openxmlformats.org/officeDocument/2006/relationships/image" Target="/ppt/media/image3.png" Id="R5b2b9b2033f24913" /><Relationship Type="http://schemas.openxmlformats.org/officeDocument/2006/relationships/notesSlide" Target="/ppt/notesSlides/notesSlide13.xml" Id="R53a35e3926664dd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c61c756d9e4653" /><Relationship Type="http://schemas.openxmlformats.org/officeDocument/2006/relationships/image" Target="/ppt/media/image4.png" Id="R60df8ec477c64c91" /><Relationship Type="http://schemas.openxmlformats.org/officeDocument/2006/relationships/notesSlide" Target="/ppt/notesSlides/notesSlide14.xml" Id="R7b11aeb795a6407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f48b745584df4" /><Relationship Type="http://schemas.openxmlformats.org/officeDocument/2006/relationships/image" Target="/ppt/media/image5.png" Id="R795ba4dc845c45e4" /><Relationship Type="http://schemas.openxmlformats.org/officeDocument/2006/relationships/image" Target="/ppt/media/image6.png" Id="R181a32e020f24c17" /><Relationship Type="http://schemas.openxmlformats.org/officeDocument/2006/relationships/image" Target="/ppt/media/image7.png" Id="Ra5ed4f1da24a4a67" /><Relationship Type="http://schemas.openxmlformats.org/officeDocument/2006/relationships/image" Target="/ppt/media/image8.png" Id="Ra30edd80607646d0" /><Relationship Type="http://schemas.openxmlformats.org/officeDocument/2006/relationships/image" Target="/ppt/media/image9.png" Id="R869674099afb465a" /><Relationship Type="http://schemas.openxmlformats.org/officeDocument/2006/relationships/image" Target="/ppt/media/image10.png" Id="Ra73dd5d6892d4767" /><Relationship Type="http://schemas.openxmlformats.org/officeDocument/2006/relationships/image" Target="/ppt/media/image11.png" Id="Re46a4aac0c9f45d7" /><Relationship Type="http://schemas.openxmlformats.org/officeDocument/2006/relationships/image" Target="/ppt/media/image12.png" Id="R821099a28ca94e68" /><Relationship Type="http://schemas.openxmlformats.org/officeDocument/2006/relationships/notesSlide" Target="/ppt/notesSlides/notesSlide15.xml" Id="R508bb1285ca84a0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572a72c6ed443e" /><Relationship Type="http://schemas.openxmlformats.org/officeDocument/2006/relationships/image" Target="/ppt/media/image13.png" Id="R6777f24b4af24954" /><Relationship Type="http://schemas.openxmlformats.org/officeDocument/2006/relationships/image" Target="/ppt/media/image14.png" Id="R9e0d6f6aa6bd4ab5" /><Relationship Type="http://schemas.openxmlformats.org/officeDocument/2006/relationships/notesSlide" Target="/ppt/notesSlides/notesSlide16.xml" Id="R1a826b5db8b34a2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66ea030ba943f3" /><Relationship Type="http://schemas.openxmlformats.org/officeDocument/2006/relationships/image" Target="/ppt/media/image15.png" Id="R15a9f3f5fc77493b" /><Relationship Type="http://schemas.openxmlformats.org/officeDocument/2006/relationships/image" Target="/ppt/media/image16.png" Id="Rf24075efc44f41ee" /><Relationship Type="http://schemas.openxmlformats.org/officeDocument/2006/relationships/notesSlide" Target="/ppt/notesSlides/notesSlide17.xml" Id="R926e6f19b45a4899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c4c74c51a74764" /><Relationship Type="http://schemas.openxmlformats.org/officeDocument/2006/relationships/image" Target="/ppt/media/image15.png" Id="R865bbb31dd4f4233" /><Relationship Type="http://schemas.openxmlformats.org/officeDocument/2006/relationships/hyperlink" Target="&#20154;&#24037;&#26234;&#33021;&#19982;Python&#35838;&#31243;&#35762;&#35299;&#35270;&#39057;.mp4" TargetMode="External" Id="R34278a78612e43b5" /><Relationship Type="http://schemas.openxmlformats.org/officeDocument/2006/relationships/hyperlink" Target="&#20154;&#24037;&#26234;&#33021;&#19982;Python&#35838;&#31243;&#35762;&#35299;&#25773;&#23458;.mp3" TargetMode="External" Id="R48f290c061964baa" /><Relationship Type="http://schemas.openxmlformats.org/officeDocument/2006/relationships/image" Target="/ppt/media/image17.png" Id="R9a84d82f1c6e4ed7" /><Relationship Type="http://schemas.openxmlformats.org/officeDocument/2006/relationships/notesSlide" Target="/ppt/notesSlides/notesSlide18.xml" Id="Rff31baa0c67c4b21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a76bf11c1e4865" /><Relationship Type="http://schemas.openxmlformats.org/officeDocument/2006/relationships/notesSlide" Target="/ppt/notesSlides/notesSlide19.xml" Id="Rbdb3f0190a774c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76E76D31-3942-4AF0-A49E-C0E90E479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7EEA4D-5BF3-4667-BA35-66457484E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0"/>
            <a:ext cx="33147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39351E8-CBA4-46BA-AF36-0C61501F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5676900"/>
            <a:ext cx="7810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516D724-C94D-4E64-89A5-E77028E79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4572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中国软件杯项目答辩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2EC30A3-C210-4563-B8BF-6A817AA7A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7810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240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1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61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</a:t>
            </a:r>
            <a:r>
              <a:rPr sz="61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orgenote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7F1A9E29-0948-41C0-A424-029C7C77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765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927"/>
          </a:bodyPr>
          <a:lstStyle xmlns:a="http://schemas.openxmlformats.org/drawingml/2006/main"/>
          <a:p xmlns:a="http://schemas.openxmlformats.org/drawingml/2006/main">
            <a:pPr algn="l">
              <a:buNone/>
              <a:defRPr sz="34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4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个性化学习智能体系统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320F54-91AA-420C-9A3E-58AC1153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76700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面向高校课程自主学习的资料沉淀、智能答疑与学习路径规划平台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FAB7537-42AC-40F7-B735-DD48FE83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435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赛题 A3｜答辩优化版｜2026.07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55CCF8D4-DA9B-4F22-8309-6895BEA13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104900"/>
            <a:ext cx="20383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5E8823C-0F72-4193-92FE-B712C34EA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47900"/>
            <a:ext cx="20383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A7F3D0"/>
            </a:solidFill>
            <a:prstDash val="solid"/>
          </a:ln>
        </p:spPr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0A8711-F753-433E-80A9-DFC045625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90900"/>
            <a:ext cx="20383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ED7AA"/>
            </a:solidFill>
            <a:prstDash val="solid"/>
          </a:ln>
        </p:spPr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357D2542-22BE-47A3-BF7D-5D9D2FC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3525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资料沉淀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AEA5F7E-05B2-4ACA-A4E8-9A972F16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4955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智能生成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A03B992B-ECF4-4B6C-AE13-1401878E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638550"/>
            <a:ext cx="1581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复习闭环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452DFD45-DFED-4B1E-9A9A-0AC351AD5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4972050"/>
            <a:ext cx="20764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7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3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</p:spTree>
    <p:extLst>
      <p:ext uri="{BB962C8B-B14F-4D97-AF65-F5344CB8AC3E}">
        <p14:creationId xmlns:p14="http://schemas.microsoft.com/office/powerpoint/2010/main" val="179369624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2374D8E-9599-47E7-833B-0E619D165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6C1A741C-BCCF-4A46-9EED-03899327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02E4C20-5386-4041-91BB-2445794B5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E3D3073-002F-4B7A-AC9F-B12AD895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A8E39C7-0AF4-4C5A-BA21-CCA34CDDF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7D655AD-5A70-4A5F-9B32-C5B3C0740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F0CBEE2F-2A65-4501-A923-534C9BE9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标准化教学难以照顾学生差异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89417EC-4893-4D98-91E4-ED1D176F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44340BF-E8D1-49E5-AF12-80CE9C9A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D127117-FD15-490E-B43B-8306522D3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FD9E1900-E602-4D0B-9403-C05B0056E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641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E8D0D4DE-91D5-4964-9DB7-A351D5236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25463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学生基础不同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90AC182-5B0C-4042-810E-F0D77B157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2908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统一节奏难以同时满足补基础、提能力和拓展学习需求。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B8A1B97F-81EC-4976-BA7F-37E087C6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3517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ABDD12C-331D-43EB-94BF-DF652CA8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34226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资料分散难沉淀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88C6F0B-788B-455C-8840-64A74D6CB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37846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课件、笔记、题目和问答记录缺少统一管理与复用入口。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F94423F2-C205-468A-8DE7-158FE983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43942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94734AA-6F87-40EA-BC08-57E8301CE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42989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自主学习缺少规划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BD40EBAA-074E-44E6-9340-A6A5943B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" y="46609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9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学生知道要学习，却很难判断先学什么、练什么、怎么复盘。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A7C636DE-B0BB-4575-8FDB-95710DFC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095625"/>
            <a:ext cx="4533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88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E749194E-6BF4-48A5-B924-CAECDBE1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19500"/>
            <a:ext cx="42291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</a:p>
        </p:txBody>
      </p:sp>
      <p:sp>
        <p:nvSpPr>
          <p:cNvPr id="57" name="圆角矩形 56">
            <a:extLst xmlns:a="http://schemas.openxmlformats.org/drawingml/2006/main">
              <a:ext uri="{FF2B5EF4-FFF2-40B4-BE49-F238E27FC236}">
                <a16:creationId xmlns:a16="http://schemas.microsoft.com/office/drawing/2014/main" id="{5D4DD500-19A9-45A7-A4FE-B7CEC24E3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5390" y="2089266"/>
            <a:ext cx="4397884" cy="3855832"/>
          </a:xfrm>
          <a:prstGeom xmlns:a="http://schemas.openxmlformats.org/drawingml/2006/main" prst="roundRect">
            <a:avLst/>
          </a:prstGeom>
          <a:gradFill xmlns:a="http://schemas.openxmlformats.org/drawingml/2006/main" rotWithShape="1">
            <a:gsLst>
              <a:gs pos="6000">
                <a:srgbClr val="F2F2F2"/>
              </a:gs>
              <a:gs pos="100000">
                <a:srgbClr val="E4E4E4"/>
              </a:gs>
              <a:gs pos="80000">
                <a:srgbClr val="F1F1F1"/>
              </a:gs>
              <a:gs pos="43000">
                <a:sysClr val="window" lastClr="FFFFFF"/>
              </a:gs>
            </a:gsLst>
            <a:lin ang="8100000" scaled="1"/>
            <a:tileRect/>
          </a:gradFill>
          <a:ln xmlns:a="http://schemas.openxmlformats.org/drawingml/2006/main" w="12700" cmpd="sng">
            <a:solidFill>
              <a:sysClr val="window" lastClr="FFFFFF"/>
            </a:solidFill>
            <a:prstDash val="solid"/>
          </a:ln>
          <a:effectLst xmlns:a="http://schemas.openxmlformats.org/drawingml/2006/main">
            <a:outerShdw blurRad="393700" dist="38100" dir="5400000" algn="t" rotWithShape="0">
              <a:schemeClr val="tx1">
                <a:alpha val="37000"/>
              </a:scheme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 defTabSz="967740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1" name="图片 5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092c09c047442b"/>
          <a:srcRect xmlns:a="http://schemas.openxmlformats.org/drawingml/2006/main" l="-17" t="11894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48425" y="2204815"/>
            <a:ext cx="4128821" cy="3608609"/>
          </a:xfrm>
          <a:prstGeom xmlns:a="http://schemas.openxmlformats.org/drawingml/2006/main" prst="roundRect">
            <a:avLst>
              <a:gd name="adj" fmla="val 14907"/>
            </a:avLst>
          </a:prstGeom>
        </p:spPr>
      </p:pic>
    </p:spTree>
    <p:extLst>
      <p:ext uri="{BB962C8B-B14F-4D97-AF65-F5344CB8AC3E}">
        <p14:creationId xmlns:p14="http://schemas.microsoft.com/office/powerpoint/2010/main" val="114793686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0AA7089-8B01-40CA-B8E8-9B2BE8914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AEA1FB8-3F05-499E-AEAE-AF101DFF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2BA93B4-4784-4D56-BCF2-526C64DDE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8C7CB54E-4B13-47E2-A4A7-C72BE3FC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6CA8BE41-A21E-408B-9975-ECE605F79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EA5C427-7F96-487C-940D-C2468524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E12899AC-413C-47A3-87CB-F833B891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课后问题需要更及时、可靠的辅导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6A88752-005A-47FD-BDD0-12403B73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AC5172D-2504-4CEE-9E9E-72AB8ABB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FB8C13E-55D5-450E-B61A-7B26A366D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B5B3A005-417C-4B57-8868-ABDDB7DAD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655" y="268732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BA1E715-C937-49FC-B44D-6A01E1AC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259207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问题出现不定时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D2B33D7D-D937-4BBA-B7FA-D196AE70F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295402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学生常在课后、复习或做题时遇到具体问题。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C7F9069E-0380-4C42-9190-3488EC05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655" y="356362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294F9CC-DF23-42DD-B076-8B2F5FBC2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346837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搜索结果难判断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C0C1E6B-235B-4383-B195-98C2BCBD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383032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普通搜索难以保证与课程资料一致，也缺少来源依据。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1EDF1893-2124-4256-B1EA-B13D939B0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655" y="443992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695B6395-8824-4831-9BC8-09A7CD5FA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434467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反馈难以连续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DE98E03-D02F-4505-B336-8BEBADA23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455" y="470662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一次答疑如果不能沉淀，就很难转化为后续学习计划。</a:t>
            </a:r>
          </a:p>
        </p:txBody>
      </p:sp>
      <p:sp>
        <p:nvSpPr>
          <p:cNvPr id="64" name="Freeform 5">
            <a:extLst xmlns:a="http://schemas.openxmlformats.org/drawingml/2006/main">
              <a:ext uri="{FF2B5EF4-FFF2-40B4-BE49-F238E27FC236}">
                <a16:creationId xmlns:a16="http://schemas.microsoft.com/office/drawing/2014/main" id="{5A366823-8EC0-4F11-84BE-73C6D5E5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5861" y="1720088"/>
            <a:ext cx="5214452" cy="4536913"/>
          </a:xfrm>
          <a:custGeom xmlns:a="http://schemas.openxmlformats.org/drawingml/2006/main">
            <a:gdLst>
              <a:gd name="T0" fmla="*/ 365 w 1306"/>
              <a:gd name="T1" fmla="*/ 1149 h 1149"/>
              <a:gd name="T2" fmla="*/ 300 w 1306"/>
              <a:gd name="T3" fmla="*/ 1111 h 1149"/>
              <a:gd name="T4" fmla="*/ 12 w 1306"/>
              <a:gd name="T5" fmla="*/ 613 h 1149"/>
              <a:gd name="T6" fmla="*/ 12 w 1306"/>
              <a:gd name="T7" fmla="*/ 537 h 1149"/>
              <a:gd name="T8" fmla="*/ 300 w 1306"/>
              <a:gd name="T9" fmla="*/ 38 h 1149"/>
              <a:gd name="T10" fmla="*/ 365 w 1306"/>
              <a:gd name="T11" fmla="*/ 0 h 1149"/>
              <a:gd name="T12" fmla="*/ 941 w 1306"/>
              <a:gd name="T13" fmla="*/ 0 h 1149"/>
              <a:gd name="T14" fmla="*/ 1006 w 1306"/>
              <a:gd name="T15" fmla="*/ 38 h 1149"/>
              <a:gd name="T16" fmla="*/ 1294 w 1306"/>
              <a:gd name="T17" fmla="*/ 537 h 1149"/>
              <a:gd name="T18" fmla="*/ 1294 w 1306"/>
              <a:gd name="T19" fmla="*/ 613 h 1149"/>
              <a:gd name="T20" fmla="*/ 1006 w 1306"/>
              <a:gd name="T21" fmla="*/ 1111 h 1149"/>
              <a:gd name="T22" fmla="*/ 941 w 1306"/>
              <a:gd name="T23" fmla="*/ 1149 h 1149"/>
              <a:gd name="T24" fmla="*/ 365 w 1306"/>
              <a:gd name="T25" fmla="*/ 1149 h 1149"/>
            </a:gdLst>
            <a:rect l="0" t="0" r="r" b="b"/>
            <a:pathLst>
              <a:path w="1306" h="1149">
                <a:moveTo>
                  <a:pt x="365" y="1149"/>
                </a:moveTo>
                <a:cubicBezTo>
                  <a:pt x="341" y="1149"/>
                  <a:pt x="312" y="1132"/>
                  <a:pt x="300" y="1111"/>
                </a:cubicBezTo>
                <a:cubicBezTo>
                  <a:pt x="12" y="613"/>
                  <a:pt x="12" y="613"/>
                  <a:pt x="12" y="613"/>
                </a:cubicBezTo>
                <a:cubicBezTo>
                  <a:pt x="0" y="592"/>
                  <a:pt x="0" y="558"/>
                  <a:pt x="12" y="537"/>
                </a:cubicBezTo>
                <a:cubicBezTo>
                  <a:pt x="300" y="38"/>
                  <a:pt x="300" y="38"/>
                  <a:pt x="300" y="38"/>
                </a:cubicBezTo>
                <a:cubicBezTo>
                  <a:pt x="312" y="17"/>
                  <a:pt x="341" y="0"/>
                  <a:pt x="365" y="0"/>
                </a:cubicBezTo>
                <a:cubicBezTo>
                  <a:pt x="941" y="0"/>
                  <a:pt x="941" y="0"/>
                  <a:pt x="941" y="0"/>
                </a:cubicBezTo>
                <a:cubicBezTo>
                  <a:pt x="965" y="0"/>
                  <a:pt x="994" y="17"/>
                  <a:pt x="1006" y="38"/>
                </a:cubicBezTo>
                <a:cubicBezTo>
                  <a:pt x="1294" y="537"/>
                  <a:pt x="1294" y="537"/>
                  <a:pt x="1294" y="537"/>
                </a:cubicBezTo>
                <a:cubicBezTo>
                  <a:pt x="1306" y="558"/>
                  <a:pt x="1306" y="592"/>
                  <a:pt x="1294" y="613"/>
                </a:cubicBezTo>
                <a:cubicBezTo>
                  <a:pt x="1006" y="1111"/>
                  <a:pt x="1006" y="1111"/>
                  <a:pt x="1006" y="1111"/>
                </a:cubicBezTo>
                <a:cubicBezTo>
                  <a:pt x="994" y="1132"/>
                  <a:pt x="965" y="1149"/>
                  <a:pt x="941" y="1149"/>
                </a:cubicBezTo>
                <a:lnTo>
                  <a:pt x="365" y="1149"/>
                </a:lnTo>
                <a:close/>
              </a:path>
            </a:pathLst>
          </a:custGeom>
          <a:gradFill xmlns:a="http://schemas.openxmlformats.org/drawingml/2006/main" rotWithShape="1">
            <a:gsLst>
              <a:gs pos="100000">
                <a:srgbClr val="FFFFFF">
                  <a:lumMod val="100000"/>
                </a:srgbClr>
              </a:gs>
              <a:gs pos="0">
                <a:srgbClr val="D9D9DA"/>
              </a:gs>
            </a:gsLst>
            <a:lin ang="2700000" scaled="1"/>
            <a:tileRect/>
          </a:gradFill>
          <a:ln xmlns:a="http://schemas.openxmlformats.org/drawingml/2006/main" w="28575" cmpd="sng">
            <a:gradFill rotWithShape="1">
              <a:gsLst>
                <a:gs pos="100000">
                  <a:srgbClr val="FFFFFF"/>
                </a:gs>
                <a:gs pos="0">
                  <a:srgbClr val="D9D9DA"/>
                </a:gs>
              </a:gsLst>
              <a:lin ang="13500000" scaled="1"/>
              <a:tileRect/>
            </a:gradFill>
            <a:prstDash val="solid"/>
          </a:ln>
          <a:effectLst xmlns:a="http://schemas.openxmlformats.org/drawingml/2006/main">
            <a:outerShdw blurRad="241300" dist="127000" dir="2700000" algn="t" rotWithShape="0">
              <a:prstClr val="black">
                <a:alpha val="18000"/>
              </a:prstClr>
            </a:outerShdw>
          </a:effectLst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spcBef>
                <a:spcPts val="0"/>
              </a:spcBef>
              <a:spcAft>
                <a:spcPts val="0"/>
              </a:spcAft>
              <a:buNone/>
            </a:pPr>
          </a:p>
        </p:txBody>
      </p:sp>
      <p:pic>
        <p:nvPicPr>
          <p:cNvPr id="86" name="图片 6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39b888523f4d70"/>
          <a:srcRect xmlns:a="http://schemas.openxmlformats.org/drawingml/2006/main" l="2687" t="0" r="268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55127" y="1988820"/>
            <a:ext cx="4576269" cy="4000500"/>
          </a:xfrm>
        </p:spPr>
      </p:pic>
    </p:spTree>
    <p:extLst>
      <p:ext uri="{BB962C8B-B14F-4D97-AF65-F5344CB8AC3E}">
        <p14:creationId xmlns:p14="http://schemas.microsoft.com/office/powerpoint/2010/main" val="11916937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60D0B2DD-1470-4C8E-BAB1-C7D53932F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055DE463-A4E3-47AC-8AD3-325585C42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9BCCCEA1-D070-44D0-96CB-A1F2DE87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BC47668-5C5C-41FA-8D57-C69BF9D19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7AF96B-E8A9-4459-A2A1-36EEE6D9E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E6687CF5-1620-445B-AEF1-A236170B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54A9E52-56D8-4A22-BA53-E1856C20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目的和内容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52FD5A4-DACB-4054-A68A-62B9CE0C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项目目标：让课程学习形成可追溯的智能闭环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8C68596-31FD-4324-9A79-D4D862FA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AC8585F-13F3-4E20-84FF-71622E7E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43050D69-83BF-47D1-BF28-97DBAC79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11052BD-7F2E-4379-BE5B-D2FCF95F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5219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AE15602-A075-42B3-B800-F88B4B786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955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目标一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E3DE395B-8B48-4E17-8BB2-D5EF4A372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28950"/>
            <a:ext cx="4476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854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构建可持续沉淀课程资料的智能学习工作台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565AA06B-E0AA-4D57-8E59-733E3A09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95750"/>
            <a:ext cx="447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让学生把课件、笔记、资料与问答记录沉淀为长期可用的个人知识库。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8334BA0-36FA-4B33-97F6-64B157EEB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90750"/>
            <a:ext cx="52197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573F7E3-1BEE-4286-99C1-896844EAA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95550"/>
            <a:ext cx="114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目标二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7E988744-B150-447B-8D18-9625AB2E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028950"/>
            <a:ext cx="4476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3854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形成可规划、可评估、可反馈的个性化学习路径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DB74D475-D07A-415E-9F8C-4B87EB076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95750"/>
            <a:ext cx="4476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通过画像、练习、推荐和评估，把一次性答疑变成持续学习支持。</a:t>
            </a:r>
          </a:p>
        </p:txBody>
      </p:sp>
    </p:spTree>
    <p:extLst>
      <p:ext uri="{BB962C8B-B14F-4D97-AF65-F5344CB8AC3E}">
        <p14:creationId xmlns:p14="http://schemas.microsoft.com/office/powerpoint/2010/main" val="17169983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矩形 42">
            <a:extLst xmlns:a="http://schemas.openxmlformats.org/drawingml/2006/main">
              <a:ext uri="{FF2B5EF4-FFF2-40B4-BE49-F238E27FC236}">
                <a16:creationId xmlns:a16="http://schemas.microsoft.com/office/drawing/2014/main" id="{00223055-BFAA-4B91-B58C-294C8BD28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F613A48-46C7-42AA-A77D-DD06DC335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2C1148BB-2A3B-4DB1-80D6-B67589AE8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A980EA9-A4C1-40B1-9AD0-848AE38C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C98F2F9-ADC7-46C3-BFE0-65A2A286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7663BD3-FA50-497F-BA36-8043FF29A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D72BE55-BE22-4DEE-A4C0-F10664B4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项目功能流程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53B4999-B51C-44E5-973B-8B815ED15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学习闭环从资料导入开始，并通过反馈持续迭代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FA55D81-4167-4DB1-A317-263888985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9BDFFB22-8E1D-46C6-83A6-725DC374F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66073B0-A5B9-4F67-AC5C-F9F76634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7345D618-8072-4B57-9632-AD5C495C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860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EFC8E05-99BF-4672-AC2C-22049534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CE6CFEB-F48C-44D3-ADC2-108C8B83A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4955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资料导入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7B552654-47BB-4810-9E9B-40A35D3E3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24765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0609334-4E7D-40FB-98F5-6D3468F6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2860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56E2FAF-888F-430D-BD41-165154DE7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E0AEB3B4-EC1D-4D06-A0B8-E420C5922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4955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知识库构建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1C29DA6-566D-4C25-AA92-B3C967E97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24765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2E411B8-2F6E-441A-B994-E628E8392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2860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0424B010-1D9E-443F-82BD-E3BC97677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52C740D-9977-4B13-951C-8971BFD69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955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学情画像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F72E29FB-112F-41AA-BA75-484F2B4D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4765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D2A47711-AA5D-47AD-B71C-2E5A8E1E7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8600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FE37E338-B3C5-4A1E-A599-DAAE8B062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4193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7D7E2969-B785-43B2-9618-D8AAB7C6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9555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RAG 问答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932B5EE-2D78-4286-A4B6-9892BBE83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95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2E04C996-CF98-4169-AF97-F44F60C6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29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39AECB94-5EF9-492B-AA3C-DB8EB7FBF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053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资源生成</a:t>
            </a: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4E57640-2B8C-481D-A986-E5AB73D8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2862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B72D5031-667F-46F4-8504-6A35D29D3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4095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9B8904A6-D617-4B24-9B2F-B4A0D234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229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33" name="矩形 32">
            <a:extLst xmlns:a="http://schemas.openxmlformats.org/drawingml/2006/main">
              <a:ext uri="{FF2B5EF4-FFF2-40B4-BE49-F238E27FC236}">
                <a16:creationId xmlns:a16="http://schemas.microsoft.com/office/drawing/2014/main" id="{04BBC1A8-05FE-4508-B81A-D9B569DFD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053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路径规划</a:t>
            </a:r>
          </a:p>
        </p:txBody>
      </p:sp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B0F41391-E6A9-40B3-8D52-611272CC3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2862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5182F7ED-81E5-4509-9FED-B3AE8C38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95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6" name="矩形 35">
            <a:extLst xmlns:a="http://schemas.openxmlformats.org/drawingml/2006/main">
              <a:ext uri="{FF2B5EF4-FFF2-40B4-BE49-F238E27FC236}">
                <a16:creationId xmlns:a16="http://schemas.microsoft.com/office/drawing/2014/main" id="{2EE86B21-84E5-49C0-9DD4-764CFEDF4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229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066D81B1-B757-461A-8C7B-FD66054B3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3053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练习评估</a:t>
            </a:r>
          </a:p>
        </p:txBody>
      </p:sp>
      <p:sp>
        <p:nvSpPr>
          <p:cNvPr id="38" name="矩形 37">
            <a:extLst xmlns:a="http://schemas.openxmlformats.org/drawingml/2006/main">
              <a:ext uri="{FF2B5EF4-FFF2-40B4-BE49-F238E27FC236}">
                <a16:creationId xmlns:a16="http://schemas.microsoft.com/office/drawing/2014/main" id="{C6C6D02A-DA20-4552-850F-7B90895A6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862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49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39" name="矩形 38">
            <a:extLst xmlns:a="http://schemas.openxmlformats.org/drawingml/2006/main">
              <a:ext uri="{FF2B5EF4-FFF2-40B4-BE49-F238E27FC236}">
                <a16:creationId xmlns:a16="http://schemas.microsoft.com/office/drawing/2014/main" id="{3C942F2E-42AB-4728-84CD-D491F1A5A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095750"/>
            <a:ext cx="20002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40" name="矩形 39">
            <a:extLst xmlns:a="http://schemas.openxmlformats.org/drawingml/2006/main">
              <a:ext uri="{FF2B5EF4-FFF2-40B4-BE49-F238E27FC236}">
                <a16:creationId xmlns:a16="http://schemas.microsoft.com/office/drawing/2014/main" id="{272218E7-92DB-4D5E-ACC5-B2B89503A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2291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667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41" name="矩形 40">
            <a:extLst xmlns:a="http://schemas.openxmlformats.org/drawingml/2006/main">
              <a:ext uri="{FF2B5EF4-FFF2-40B4-BE49-F238E27FC236}">
                <a16:creationId xmlns:a16="http://schemas.microsoft.com/office/drawing/2014/main" id="{94AF2D7D-923C-40BF-812A-06F4CA9F5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305300"/>
            <a:ext cx="1200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1333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反馈迭代</a:t>
            </a:r>
          </a:p>
        </p:txBody>
      </p:sp>
      <p:sp>
        <p:nvSpPr>
          <p:cNvPr id="42" name="矩形 41">
            <a:extLst xmlns:a="http://schemas.openxmlformats.org/drawingml/2006/main">
              <a:ext uri="{FF2B5EF4-FFF2-40B4-BE49-F238E27FC236}">
                <a16:creationId xmlns:a16="http://schemas.microsoft.com/office/drawing/2014/main" id="{718E3C78-4E56-4003-9709-A740D3BF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72125"/>
            <a:ext cx="809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Web / Windows WebView 展示学习结果与任务状态</a:t>
            </a:r>
          </a:p>
        </p:txBody>
      </p:sp>
    </p:spTree>
    <p:extLst>
      <p:ext uri="{BB962C8B-B14F-4D97-AF65-F5344CB8AC3E}">
        <p14:creationId xmlns:p14="http://schemas.microsoft.com/office/powerpoint/2010/main" val="12616174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254AD1C-B66E-40EE-8592-BE012888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CC328EE6-76C1-44B2-B248-2858420B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2EA5D9F-9F32-47B1-8F8E-DBF7AE71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BDEA2A3A-8578-4FBE-8A82-74C6BF59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2A6C661F-A45D-4464-A4B7-14D0FBA4A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ECBF067-BA3A-4C59-B0FE-7A3D897D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AD7B36D-4B54-4741-8062-75D9A170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952863C5-8EDF-45D7-84DC-0CA10225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六维画像持续更新，让个性化有依据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7282D5B-118D-44E7-966E-6EB00B43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26067DCF-539E-4E2F-B33E-B8AB20CA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3D0961B-3330-4021-B6D7-E818CA19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306A015B-9734-4354-8427-B1BAFDF9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90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71A6C722-8156-4FA3-9D6A-3CEF17E0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0955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专业背景 · 知识基础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4284936A-C625-4788-A4E9-3B54C552A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4574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来自首次对话、课程切换、问答与测验表现。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377955AE-57F5-4D7B-B1DD-BF966BF30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14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B16654A8-3A80-4121-82B8-68499F645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8194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学习目标 · 认知风格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10362234-5A72-4149-A89C-2E6E177C8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813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来自目标请求、讲解/练习/代码偏好与近期事件。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1996D22B-564C-4658-92AF-5224C585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9E4B93B-8919-426D-AEA8-0A29A47FF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5433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易错点 · 资源偏好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10C7297-CEAA-461B-B6DD-F126D57A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9052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由错题、失败事件、资料采纳与资产使用增量更新。</a:t>
            </a:r>
          </a:p>
        </p:txBody>
      </p:sp>
    </p:spTree>
    <p:extLst>
      <p:ext uri="{BB962C8B-B14F-4D97-AF65-F5344CB8AC3E}">
        <p14:creationId xmlns:p14="http://schemas.microsoft.com/office/powerpoint/2010/main" val="135767965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F874C263-6F67-4F61-93A9-4D5B332C3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93CD625-78A7-4A96-9602-F0C8DDEAD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AF3574E-CEA9-4015-8A2A-1D7CD776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ED58A56-7E67-4F65-9A29-295A4E321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645E801-204E-4551-BFB4-3AEB007B3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5D47295-55A6-4C9F-8205-405623B2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FDC7D8D-CC9C-4248-BD97-B248D6009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7DC51BF9-0A2D-405F-A289-E6A63A5FF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9 个智能体按 6 个协作域分工，按模式动态路由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BE1F3F2-BF6D-49C6-8543-A26DC4283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505862B-D61C-425E-A72C-CCB128E9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2386BDC-C2E3-4511-9A37-EC6EC2925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F8CBD74-1719-4DBE-B781-92425BFD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E28777EF-1502-42EF-9480-28B40EFB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19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画像 + 课程结构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C3506BC1-F2D9-4BE3-B2A2-DEE47F7EE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57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提取六维画像，梳理知识先修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BADA9E0-8738-4580-A424-A6A80223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90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58542A82-6281-49D1-BC54-76CB8CDA4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419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资源搜集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65E77FE-EEB7-46B0-B084-79B14538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857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2855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查询、评分、去重，保留学生采纳权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2DFCB19-F3AB-45C8-9BFC-FDC2B897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90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042A6FCD-5D87-44D0-B303-765810423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419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资源生成 + 练习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6B56A0E-C44A-4E3B-96B6-90FFA1334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857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645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生成七类资产与测验/代码实验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82996ACF-189F-4366-8FCD-A8CC8D90A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832908B0-D6FE-4800-A81A-003BC92AC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324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路径规划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0A1D26A6-ABF2-4CF9-A047-C8BF7BD25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762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按画像安排四阶段学习路径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9916384A-9B65-47F7-8923-495DEC21C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95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59DC1C97-3B5A-44B5-8ABF-088ED567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324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辅导 + 评估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C2BC669C-2674-4A02-AB18-FA3094FC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4762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118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定位错误，评估表现并建议下一步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C0E4D7F0-7A54-4F42-BFE8-F24E24E0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095750"/>
            <a:ext cx="30480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A84B0D97-D766-4362-AD40-635C49C12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243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205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9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安全校验</a:t>
            </a:r>
          </a:p>
        </p:txBody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9212BBA9-7132-4068-B1F6-95EF7683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762500"/>
            <a:ext cx="257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276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核验来源、安全边界与输出质量</a:t>
            </a:r>
          </a:p>
        </p:txBody>
      </p:sp>
    </p:spTree>
    <p:extLst>
      <p:ext uri="{BB962C8B-B14F-4D97-AF65-F5344CB8AC3E}">
        <p14:creationId xmlns:p14="http://schemas.microsoft.com/office/powerpoint/2010/main" val="6144940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455AA44-9CDB-49E8-B395-0D17F664D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171DB8E9-1CE0-4126-B5FC-D0C4363EC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D9C41C23-0435-4274-97B7-5D8C555C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DC2DBBFA-66F2-43E9-9890-9C02C34B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DC1278C-9CF6-43AA-A5DD-8357C13FB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6CF8D41-F93D-439D-922D-C9E90D239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1EADE09-713C-4FE3-AEC2-A1663BF80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8616DE57-0527-48FD-850F-2F489C8F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来源优先 + 空来源硬阻断：把防幻觉变成系统约束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7B8F375-09B2-4491-BDE7-634BE0B13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C000A9-1225-491B-9287-7BA847958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E8C7435D-AEFD-4D91-8012-5B291F6CB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E626E2D7-6E5E-4E83-B7F7-B06C8507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90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C48BE55B-4726-4964-96AF-3FA4B5FE0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0955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来源优先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F3CF32F-6D10-4A90-95C4-3C6F7CF2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4574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只用已接受来源构建上下文，并保留引用线索。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29C01B1A-8527-4341-B15D-020605382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14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197F068-C4D7-4E48-87AE-A8C1B91C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8194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结构校验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2A8D78A2-4D7B-4741-AC3C-B873E6EC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813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Quiz、闪卡、导图与 Markdown 入库前校验修复。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B1524B12-CB5E-460C-A75C-49A6CBD4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297D41E2-96DC-4F77-9514-3A3476112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5433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硬阻断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3E9E0B55-0536-45AF-9BC1-46083D866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9052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已选来源无正文时返回空资产，不用模型常识补写。</a:t>
            </a:r>
          </a:p>
        </p:txBody>
      </p:sp>
    </p:spTree>
    <p:extLst>
      <p:ext uri="{BB962C8B-B14F-4D97-AF65-F5344CB8AC3E}">
        <p14:creationId xmlns:p14="http://schemas.microsoft.com/office/powerpoint/2010/main" val="126890663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3D50A2FF-15EF-46F7-AB7E-FF5D3A101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60DAE4A7-BDD7-47B9-8E60-166BA147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AE5A2A77-877F-4556-9E2E-90C985D6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8D6914C-9DB0-4240-86CC-3491B2426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8B9B230-304D-4B0F-9A0E-751C5F464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F5F7769-079D-4675-A0AE-8BD8FDD5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901EF5F5-41B3-4439-8A30-5EEDD537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8B1C071-168E-443D-9FEB-93BB41F2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系统架构围绕学习入口、AI 能力和数据沉淀展开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1A556387-6CB9-4A4E-834D-D46B00325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5A8FD4C9-55AA-43A1-895E-C9BCD760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2A18C80-4ED0-4F97-A671-0E2079C71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781821D-1AB8-4193-B707-697E58A9B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6F05289E-3FF1-4DA9-98B9-1BFAE58CB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240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用户层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869299C2-AEBC-4E4E-8CD3-3AA53716C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1240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学生 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FCB1453-8F3C-49F8-B7F8-052FE5886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955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EABBA9C-9161-4077-ACD2-FD9256F4B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4320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2E55199-6507-48C6-B30A-E3F514B07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6702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前端层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94AB68B-FC00-43C1-BC0B-40D578BE8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867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Next.js 学习工作台 / Windows WebView 桌面端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B193749E-F0CD-4F7E-BAEC-E0B9827F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2385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6C93D994-3476-4DAD-93AD-882FB55A1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A21BA232-8625-4A95-9195-0C644C13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099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服务层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9033276-B24C-4885-B1E9-1160D2855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099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FastAPI 接口、任务调度、学习记录管理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A4BE094F-6958-4772-9A71-E80C07794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98145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F92E886D-86AB-4AD8-9877-70104438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6C3527ED-ADAE-4311-BC90-8DACF1D2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5292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AI 能力层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7EE32DE5-8DDF-4E24-9D1A-4F291A775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3529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RAG、Embedding、多智能体、TTS/STT、图片生成</a:t>
            </a:r>
          </a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D1627BC5-AD3A-414C-AA8C-075772744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4724400"/>
            <a:ext cx="57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083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2ED5FFE9-BA33-4E26-ABFB-19B1168B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72050"/>
            <a:ext cx="103632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72C92F4A-7227-47FF-9C33-39C4D5202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95875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数据层</a:t>
            </a:r>
          </a:p>
        </p:txBody>
      </p:sp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8C29FABE-C61F-4852-AD9A-9F4E4AB76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0958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3913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SurrealDB、课程资料库、向量索引、画像与反馈记录</a:t>
            </a:r>
          </a:p>
        </p:txBody>
      </p:sp>
    </p:spTree>
    <p:extLst>
      <p:ext uri="{BB962C8B-B14F-4D97-AF65-F5344CB8AC3E}">
        <p14:creationId xmlns:p14="http://schemas.microsoft.com/office/powerpoint/2010/main" val="20936744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9F0A0056-D4A9-47CF-9943-F64BA9CA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7F6B679-89D0-47E1-99F7-F06C04B99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92DBF7EA-D9AF-45FE-B30C-308903AD7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83C79A4E-1FF9-4557-91E7-7ECFEBFC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3DE7380-B636-40B9-8E70-0538FB43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F5EF9BBD-E904-4D38-9280-247F022A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71EB7B71-8DCD-4C6E-9B99-F3D90E51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761CDE8F-83D4-49FF-90BB-4DC9A32B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技术选型支撑模型分工、媒体合成与桌面交付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E132714-006A-46BE-B407-79BD5FA6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314130BA-490F-4D28-B6A0-7F8F4FAB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44AD4F7-5050-4DD3-B0D6-58B6E1C91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406C44A-AB95-42F5-83CA-6460B64B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2324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1855F59F-DC1B-4E44-9A30-CB00CE6D8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前端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4A3073-1949-4A92-941E-E7997D954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05150"/>
            <a:ext cx="18669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Next.js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学习工作台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Markdown 渲染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任务进度反馈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D1DCABF2-F308-41D4-B938-0B6F29B8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190750"/>
            <a:ext cx="2324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AF7C7649-4D7A-4E70-A0D1-51AE60BBB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4574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后端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9357D3B2-25A0-4144-89FA-9E5FE0A3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05150"/>
            <a:ext cx="18669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FastAPI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接口服务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任务调度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Docker 部署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47BCB661-A91F-4ACF-97F6-0D4EE2DC3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90750"/>
            <a:ext cx="2324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E55CF21-BADB-4D65-AF15-D96ECD58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4574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数据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01703804-1B6F-420F-8590-CC839DB9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05150"/>
            <a:ext cx="18669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SurrealDB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资料索引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画像记录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练习反馈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DEB212C1-DCFB-4A31-83E6-EC95A0B9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90750"/>
            <a:ext cx="2324100" cy="3028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1E8229B9-F4EC-4020-9B3E-E9CF5CF59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457450"/>
            <a:ext cx="1866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9583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AI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23FAC216-CBE3-4BB8-BE66-6F97933C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105150"/>
            <a:ext cx="186690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873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OpenAI 兼容协议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文本 / 图片 / TTS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RAG / Embedding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FFmpeg 本地视频合成</a:t>
            </a:r>
          </a:p>
        </p:txBody>
      </p:sp>
    </p:spTree>
    <p:extLst>
      <p:ext uri="{BB962C8B-B14F-4D97-AF65-F5344CB8AC3E}">
        <p14:creationId xmlns:p14="http://schemas.microsoft.com/office/powerpoint/2010/main" val="24929626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2FBF1C00-AB6A-400A-A12E-1488A1914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8862629-2E66-4AA1-8E5D-8BA8B9C1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C38185CD-A384-48E1-8010-A5272637E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147AA2CB-2A38-4C09-94A2-8AFA6253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2F528315-265A-401E-A3C0-044531E47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F8130D41-C43A-46F8-8B08-877052EA1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264E9E8-877D-4473-A7EA-5F5107B22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模块介绍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06CF65E6-C468-4AC0-AF35-FA4D5ED05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创新聚焦可追溯、可个性化、可验证、可扩展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2708ED0-D063-40C6-AC2A-66C8A8C4A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96F68000-8671-4365-AABB-188ADE56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24CD3F4-3796-46C5-A061-B2D6A9F3A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8B065244-C75E-4157-98E3-424B40042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190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8E140D55-E497-41EA-B4E6-F4F75FEC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0955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画像即来源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4DA71F7C-7902-4CDA-AF76-13D5CB7F5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4574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6 维画像可查、可改、可随学更新。</a:t>
            </a:r>
          </a:p>
        </p:txBody>
      </p:sp>
      <p:sp>
        <p:nvSpPr>
          <p:cNvPr id="15" name="椭圆 14">
            <a:extLst xmlns:a="http://schemas.openxmlformats.org/drawingml/2006/main">
              <a:ext uri="{FF2B5EF4-FFF2-40B4-BE49-F238E27FC236}">
                <a16:creationId xmlns:a16="http://schemas.microsoft.com/office/drawing/2014/main" id="{FF8FF97C-38A5-4AE8-AE86-ACBDF14E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14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A3DF0D7-F49E-44A8-A59E-898A6B75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28194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9 角色模式路由</a:t>
            </a:r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2ED404AD-CCAD-4B60-B2CA-BD6A66650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1813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chat / collect / generate 只激活必要角色。</a:t>
            </a:r>
          </a:p>
        </p:txBody>
      </p:sp>
      <p:sp>
        <p:nvSpPr>
          <p:cNvPr id="18" name="椭圆 17">
            <a:extLst xmlns:a="http://schemas.openxmlformats.org/drawingml/2006/main">
              <a:ext uri="{FF2B5EF4-FFF2-40B4-BE49-F238E27FC236}">
                <a16:creationId xmlns:a16="http://schemas.microsoft.com/office/drawing/2014/main" id="{9CCB80CA-8647-4B83-A282-83F797028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77BFA9A3-C21C-4A0F-8665-C49E61FE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543300"/>
            <a:ext cx="914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619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1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真实语音时间轴讲解视频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3063A8F6-EA69-4F0A-B56A-3457DCFD1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4925" y="390525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脚本同步给出视觉提示；图片与中文字幕按 TTS 时间点由 FFmpeg 合成 MP4。</a:t>
            </a:r>
          </a:p>
        </p:txBody>
      </p:sp>
    </p:spTree>
    <p:extLst>
      <p:ext uri="{BB962C8B-B14F-4D97-AF65-F5344CB8AC3E}">
        <p14:creationId xmlns:p14="http://schemas.microsoft.com/office/powerpoint/2010/main" val="39613972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DBBB712-5DEC-464F-88FE-50895F70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7E7B1E-55F5-4352-A356-F48E68B4E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F6D050C5-E014-49CE-B8D4-D812B44F3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7C6520B2-1D85-4DEA-98CE-0B7BF4D35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62B398EE-C307-420F-AED3-B21B7885D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4E807AA2-60A2-40CD-9370-E4D8AC7B8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47072DD6-D1EF-442F-A2EC-9B2D95D20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FE0FAD0-9FC8-4633-A41E-6DA4D503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工作台展示：来源、问答与 Studio 并行协作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1D8B33C-D3D5-4C31-8F5E-D4B5ED58A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EADF3253-3675-48B7-8070-B3F8F281F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E235D93-CD9C-40CD-8176-32EBD54E8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EF612FBF-C8D7-4662-9CB7-2678C45CC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85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36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503eb46c274d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10095" y="2057400"/>
            <a:ext cx="6533211" cy="38862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4759E48-992C-4997-8137-CD45DA76F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88BE9F4-B9CD-47DB-B79D-D80021FA8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来源管理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E36D1DB-7BC1-4811-81C8-79221230B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61A1D656-59B2-469B-B309-AEBC705AD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资料问答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2E2FED8D-AD17-4ACD-AE65-FFBFF219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05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CCA6BCF4-3BA6-420B-A07A-4BB5C90F8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Studio 资产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983BE8B7-6D4B-44F3-94FF-1273FC67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33322885-9C0A-40BA-8F76-6D9028B16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引用依据</a:t>
            </a:r>
          </a:p>
        </p:txBody>
      </p:sp>
    </p:spTree>
    <p:extLst>
      <p:ext uri="{BB962C8B-B14F-4D97-AF65-F5344CB8AC3E}">
        <p14:creationId xmlns:p14="http://schemas.microsoft.com/office/powerpoint/2010/main" val="4669934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0D5BC75F-0628-4705-81C8-263C1E774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2B5B405-E444-40B2-A683-ED1C2E2FE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0AD01AB3-3B64-4FDF-9649-8D1FF911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4CF1BCB4-BE26-4AAA-A590-4FB8BE8B6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55794868-1E9E-401D-BFC3-B9B523701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F6F790E-1F82-4370-9B20-A41FC652D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325B6A3-568A-467E-8C62-6D78F5955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5211ECD-935D-404D-A4BF-4613FE762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来源添加展示：多格式资料进入知识库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2DEB37C-0D3C-4AE6-8FD7-45CB682E7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76D48CFE-9D99-4FB6-A7BA-AB9A02A25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FF67026-DBBB-4015-9CCA-14D43FEAA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DFA3C620-7AB7-49E8-A060-94FBF870D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85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36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2b9b2033f249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09321" y="2057400"/>
            <a:ext cx="4134759" cy="38862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D04C83E-B941-4D4B-A1E2-B017C9AC2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E9521A1-CA3A-4F90-836A-D59DA6B8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上传文件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CE67EC2-E861-40D9-B2B3-84266F8C0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D55A9B93-3B16-48A5-8F2F-CEA9B547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添加 URL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49C341B-6621-416A-B925-88A375767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05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71C0AA7-DB28-477C-8674-BC42F311D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输入文本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A2A460B9-2A8F-4115-8954-2653C42E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D8F4BD81-8B70-4FCE-8897-D1A5F9CD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语音识别</a:t>
            </a:r>
          </a:p>
        </p:txBody>
      </p:sp>
    </p:spTree>
    <p:extLst>
      <p:ext uri="{BB962C8B-B14F-4D97-AF65-F5344CB8AC3E}">
        <p14:creationId xmlns:p14="http://schemas.microsoft.com/office/powerpoint/2010/main" val="102642282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462CD26F-2749-4A3A-9043-FF0AB3FC0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EC33999-F141-487B-AF14-5818ED1BB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A7C223E-44E6-4C68-9650-1040C207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F4E0F47D-4016-4925-92B1-E1349B69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A4D74606-A955-4491-AC13-30F85AAE4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4C52D61-410E-45DF-9DC2-66E60C4FD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B47A497-DBF0-4C4C-9708-C7F06FECF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3A0BF6A8-0170-414A-B8B1-EAF188678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模型配置展示：多模型能力按学习用途分配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F01B0E2-4AD3-4515-9C18-261A39D3D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4ACF16D8-623E-481F-A831-CA7A086B0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0A1DA108-3DAA-4432-804C-589B43EE3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4AA23B38-F876-4BC3-9E4D-8A944FC99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85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36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df8ec477c64c9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5059" y="2057400"/>
            <a:ext cx="6503281" cy="38862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A4CCD1B-9887-4532-928C-E9D8976E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880A419C-3AA4-4101-A7ED-46EA806E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文本模型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EF6057B-EE2C-45FE-8FD7-4044A9036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C77DE1C8-94CA-454A-AC18-ED02DEE6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Embedding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01C1C1CE-3078-42C9-96F6-532BCCE5A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05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3557654B-6FF5-4D35-BF7B-FBE1702E6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图片模型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78033997-429D-4AE4-9C23-AC21314F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9BBAE662-928E-4768-BCE1-BA231EE03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TTS / STT</a:t>
            </a:r>
          </a:p>
        </p:txBody>
      </p:sp>
    </p:spTree>
    <p:extLst>
      <p:ext uri="{BB962C8B-B14F-4D97-AF65-F5344CB8AC3E}">
        <p14:creationId xmlns:p14="http://schemas.microsoft.com/office/powerpoint/2010/main" val="83294953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矩形 36">
            <a:extLst xmlns:a="http://schemas.openxmlformats.org/drawingml/2006/main">
              <a:ext uri="{FF2B5EF4-FFF2-40B4-BE49-F238E27FC236}">
                <a16:creationId xmlns:a16="http://schemas.microsoft.com/office/drawing/2014/main" id="{F31A16BA-4664-43A9-9656-A35029FAB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5CFCF5E2-1B1B-448D-9994-90F97A261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A4A7C37B-8356-472C-B856-0D63606F7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B46342D-58FB-4AAD-9A24-51DA2D9AD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1BFAB01-2A50-401A-8CE9-1196C415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59D392AB-B8AF-4C12-8184-453EE0809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61791231-D0C9-4977-8874-5588EF4CB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E1AC2FD-2B73-4644-A564-D55590971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Studio 展示：7 类编排资产 + 播客 / 讲解视频管线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EA5485A7-5B77-49DF-A798-98A3E25B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8097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7182793-E404-4525-B4C8-BB3097DC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7217CF4D-FF06-4BCC-B98D-E08CDB9EE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0AE6E18-8144-4E1E-8414-57A32E24B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1000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7 类资产共享画像与来源约束；播客脚本同步规划关键画面，并按真实语音时间轴合成带中文字幕的本地 MP4。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6C81639-9983-4AA8-A6C8-3F449F1BB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4558CF36-9A12-47E6-90CA-A4912A5A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课程学习讲解</a:t>
            </a:r>
          </a:p>
        </p:txBody>
      </p:sp>
      <p:pic>
        <p:nvPicPr>
          <p:cNvPr id="60" name="图片 5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5ba4dc845c45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76749" y="2371725"/>
            <a:ext cx="1399352" cy="1333500"/>
          </a:xfrm>
          <a:prstGeom xmlns:a="http://schemas.openxmlformats.org/drawingml/2006/main" prst="rect">
            <a:avLst/>
          </a:prstGeom>
        </p:spPr>
      </p:pic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04710FA2-C562-4929-A1FD-87EF70FC4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195262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A7BCD5E-A4AC-46A9-8F33-816E1EA02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0478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测试</a:t>
            </a:r>
          </a:p>
        </p:txBody>
      </p:sp>
      <p:pic>
        <p:nvPicPr>
          <p:cNvPr id="63" name="图片 5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1a32e020f24c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91350" y="2371725"/>
            <a:ext cx="1904201" cy="1333500"/>
          </a:xfrm>
          <a:prstGeom xmlns:a="http://schemas.openxmlformats.org/drawingml/2006/main" prst="rect">
            <a:avLst/>
          </a:prstGeom>
        </p:spPr>
      </p:pic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EDBF8A0-3289-4462-95E6-706BB92B6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A074D019-3752-4E50-AD87-0B7CB9E3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闪卡</a:t>
            </a:r>
          </a:p>
        </p:txBody>
      </p:sp>
      <p:pic>
        <p:nvPicPr>
          <p:cNvPr id="66" name="图片 5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ed4f1da24a4a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33445" y="2371725"/>
            <a:ext cx="2354060" cy="1333500"/>
          </a:xfrm>
          <a:prstGeom xmlns:a="http://schemas.openxmlformats.org/drawingml/2006/main" prst="rect">
            <a:avLst/>
          </a:prstGeom>
        </p:spPr>
      </p:pic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7CC74DA-BD66-461E-BC6F-57A162FF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195262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09872039-F422-43F9-8ABB-E84F889FB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4787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思维导图</a:t>
            </a:r>
          </a:p>
        </p:txBody>
      </p:sp>
      <p:pic>
        <p:nvPicPr>
          <p:cNvPr id="69" name="图片 5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0edd80607646d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903302" y="2371725"/>
            <a:ext cx="1148397" cy="1333500"/>
          </a:xfrm>
          <a:prstGeom xmlns:a="http://schemas.openxmlformats.org/drawingml/2006/main" prst="rect">
            <a:avLst/>
          </a:prstGeom>
        </p:spPr>
      </p:pic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D1C1A3A5-DB0D-4354-BC50-E56561D1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6717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3F8CDA54-9F1D-428F-B075-C2C5177F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扩展阅读</a:t>
            </a:r>
          </a:p>
        </p:txBody>
      </p:sp>
      <p:pic>
        <p:nvPicPr>
          <p:cNvPr id="72" name="图片 6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9674099afb46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72973" y="4486275"/>
            <a:ext cx="1406904" cy="1333500"/>
          </a:xfrm>
          <a:prstGeom xmlns:a="http://schemas.openxmlformats.org/drawingml/2006/main" prst="rect">
            <a:avLst/>
          </a:prstGeom>
        </p:spPr>
      </p:pic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4D6479C5-93C2-4B0D-BA74-152565224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406717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9" name="矩形 28">
            <a:extLst xmlns:a="http://schemas.openxmlformats.org/drawingml/2006/main">
              <a:ext uri="{FF2B5EF4-FFF2-40B4-BE49-F238E27FC236}">
                <a16:creationId xmlns:a16="http://schemas.microsoft.com/office/drawing/2014/main" id="{7F9E2921-DD24-442F-A6A5-AE739FFCB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41624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代码实验室</a:t>
            </a:r>
          </a:p>
        </p:txBody>
      </p:sp>
      <p:pic>
        <p:nvPicPr>
          <p:cNvPr id="75" name="图片 6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3dd5d6892d47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951946" y="4486275"/>
            <a:ext cx="1583007" cy="1333500"/>
          </a:xfrm>
          <a:prstGeom xmlns:a="http://schemas.openxmlformats.org/drawingml/2006/main" prst="rect">
            <a:avLst/>
          </a:prstGeom>
        </p:spPr>
      </p:pic>
      <p:sp>
        <p:nvSpPr>
          <p:cNvPr id="31" name="矩形 30">
            <a:extLst xmlns:a="http://schemas.openxmlformats.org/drawingml/2006/main">
              <a:ext uri="{FF2B5EF4-FFF2-40B4-BE49-F238E27FC236}">
                <a16:creationId xmlns:a16="http://schemas.microsoft.com/office/drawing/2014/main" id="{773F5E95-1E00-4A0B-907D-1098B130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06717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2" name="矩形 31">
            <a:extLst xmlns:a="http://schemas.openxmlformats.org/drawingml/2006/main">
              <a:ext uri="{FF2B5EF4-FFF2-40B4-BE49-F238E27FC236}">
                <a16:creationId xmlns:a16="http://schemas.microsoft.com/office/drawing/2014/main" id="{42769600-C87C-45D0-9D98-A2B48F751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624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辅助图片理解</a:t>
            </a:r>
          </a:p>
        </p:txBody>
      </p:sp>
      <p:pic>
        <p:nvPicPr>
          <p:cNvPr id="78" name="图片 6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6a4aac0c9f45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030397" y="4486275"/>
            <a:ext cx="1160156" cy="1333500"/>
          </a:xfrm>
          <a:prstGeom xmlns:a="http://schemas.openxmlformats.org/drawingml/2006/main" prst="rect">
            <a:avLst/>
          </a:prstGeom>
        </p:spPr>
      </p:pic>
      <p:sp>
        <p:nvSpPr>
          <p:cNvPr id="34" name="矩形 33">
            <a:extLst xmlns:a="http://schemas.openxmlformats.org/drawingml/2006/main">
              <a:ext uri="{FF2B5EF4-FFF2-40B4-BE49-F238E27FC236}">
                <a16:creationId xmlns:a16="http://schemas.microsoft.com/office/drawing/2014/main" id="{A9618200-6392-4116-9A15-9C382C864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067175"/>
            <a:ext cx="264795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5" name="矩形 34">
            <a:extLst xmlns:a="http://schemas.openxmlformats.org/drawingml/2006/main">
              <a:ext uri="{FF2B5EF4-FFF2-40B4-BE49-F238E27FC236}">
                <a16:creationId xmlns:a16="http://schemas.microsoft.com/office/drawing/2014/main" id="{39DD4137-6A71-4F40-A076-556DFFE18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4162425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75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播客 / 讲解视频</a:t>
            </a:r>
          </a:p>
        </p:txBody>
      </p:sp>
      <p:pic>
        <p:nvPicPr>
          <p:cNvPr id="81" name="图片 7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1099a28ca94e68"/>
          <a:srcRect xmlns:a="http://schemas.openxmlformats.org/drawingml/2006/main" l="0" t="1947" r="0" b="194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897639" y="4486275"/>
            <a:ext cx="1159723" cy="133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359357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8FDCE2F4-C3B2-40DE-9E00-5BD7B0EA1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D9E9D88-EBA3-44AC-A9D9-7F2049B93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65EE730D-09DA-444A-8002-58D9FD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1E0A07F-7922-43C6-8F0C-6C675C126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211CF76-A917-44E4-8ABA-67C6D87D2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F614C33-1046-459F-B63A-E3A56D600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0923109-01D7-4ACB-A0A2-15B61E7C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FAB8FB59-38A0-4626-B4F4-FB348B52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错题本展示：错题自动沉淀并进入再练习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5F60E7C2-DFE5-46D6-B119-42844CE8B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86D865E-DCCF-4EF6-898F-FE493A4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DA5D675-23D9-4E79-9957-B59B2E674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53B810E2-A153-46CB-B3AD-137CFF392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66850"/>
            <a:ext cx="933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系统把测验中的薄弱点沉淀为可筛选、可收藏、可复练的错题资产。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78D6D8D-E892-4AC5-834B-5A1A8278B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52625"/>
            <a:ext cx="53340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5FB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371C1339-A4F5-437B-8853-312C4A98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859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6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错题沉淀与筛选</a:t>
            </a:r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B179E21D-0CF9-4D1C-9FF2-D24F1700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0982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统计全部/当前/收藏错题，按笔记本和测验资产定位来源。</a:t>
            </a:r>
          </a:p>
        </p:txBody>
      </p:sp>
      <p:pic>
        <p:nvPicPr>
          <p:cNvPr id="39" name="图片 3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77f24b4af249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791737" y="2828925"/>
            <a:ext cx="2855426" cy="2857500"/>
          </a:xfrm>
          <a:prstGeom xmlns:a="http://schemas.openxmlformats.org/drawingml/2006/main" prst="rect">
            <a:avLst/>
          </a:prstGeom>
        </p:spPr>
      </p:pic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A25BAEB0-53BB-468B-B513-3FA1D0954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52625"/>
            <a:ext cx="5334000" cy="390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AFF7AF5E-889C-4C6B-B3EC-CB6F4EA83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859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96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重新练习与解析反馈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EF09613F-9073-4C7A-862F-085E3D034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409825"/>
            <a:ext cx="487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支持原题复练、相似练习、正确答案解析和错题本移出。</a:t>
            </a:r>
          </a:p>
        </p:txBody>
      </p:sp>
      <p:pic>
        <p:nvPicPr>
          <p:cNvPr id="43" name="图片 3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0d6f6aa6bd4ab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50586" y="2828925"/>
            <a:ext cx="4443927" cy="2857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863415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4D175E0-D4C5-4E8D-90F8-F137DCD5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70F9C28-8A6D-450B-8C2D-2690E676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7ACD7CE6-53C3-4989-80B8-41324B2A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4C48E2D-41BE-4D9B-9645-B30B943D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C8ECBD5E-C4B9-41D6-B4D5-2B2BB7DC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0D9F2F3-19C7-4653-A5B1-1E2B0E81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D9146D5-2605-4C58-A1B1-86D88AA7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DD33BC0A-2CCD-4B67-A43C-04968216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真实测试证据：A3 8 / 8、讲解视频 11 / 11 通过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E4124EB-E5ED-4C4B-9173-A1F843D0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749A64B9-11DF-4900-BB7B-931C199A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45499FDC-40CE-4D35-A924-8B7852E4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69CA641-1D69-49A5-BCE1-E25711B2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85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37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a9f3f5fc7749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36483" y="2057400"/>
            <a:ext cx="5880434" cy="38862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394FEC1-CC23-4582-907D-B242E5B0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79CF3DF-EE84-4E13-A93F-74E7EAA1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A3 专项 8 / 8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DB6B0C4-D0E9-46F0-9BCE-46E80F30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32A1E1B-B45C-4BA1-A9AB-463A0D95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视频专项 11 / 11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E2A8A6A8-B8B2-4565-8669-29438E35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05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8A13A0AB-9242-4DA3-8892-23CFBAEA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后端 285 passed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3B3C15A-2A34-40B8-A65D-B4385150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F55E373D-BD27-4752-BC11-A981BC0B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前端 55 tests passed</a:t>
            </a:r>
          </a:p>
        </p:txBody>
      </p:sp>
      <p:pic>
        <p:nvPicPr>
          <p:cNvPr id="4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4075efc44f41ee"/>
          <a:stretch xmlns:a="http://schemas.openxmlformats.org/drawingml/2006/main"/>
        </p:blipFill>
        <p:spPr>
          <a:xfrm xmlns:a="http://schemas.openxmlformats.org/drawingml/2006/main" flipH="0" flipV="0">
            <a:off x="1136483" y="2057400"/>
            <a:ext cx="5880434" cy="3886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64907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74D175E0-D4C5-4E8D-90F8-F137DCD51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A70F9C28-8A6D-450B-8C2D-2690E6767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7ACD7CE6-53C3-4989-80B8-41324B2A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24C48E2D-41BE-4D9B-9645-B30B943DD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C8ECBD5E-C4B9-41D6-B4D5-2B2BB7DCC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10D9F2F3-19C7-4653-A5B1-1E2B0E81F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AD9146D5-2605-4C58-A1B1-86D88AA7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1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563EB"/>
                </a:solidFill>
                <a:latin typeface="微软雅黑"/>
                <a:ea typeface="微软雅黑"/>
                <a:cs typeface="微软雅黑"/>
              </a:rPr>
              <a:t>效果展示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DD33BC0A-2CCD-4B67-A43C-04968216C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74295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35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真实课程样例：播客与带字幕讲解视频可直接播放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0E4124EB-E5ED-4C4B-9173-A1F843D06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581150"/>
            <a:ext cx="11201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1D5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749A64B9-11DF-4900-BB7B-931C199A2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45499FDC-40CE-4D35-A924-8B7852E43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18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F69CA641-1D69-49A5-BCE1-E25711B25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685800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pic>
        <p:nvPicPr>
          <p:cNvPr id="37" name="图片 3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5bbb31dd4f423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36483" y="2057400"/>
            <a:ext cx="5880434" cy="3886200"/>
          </a:xfrm>
          <a:prstGeom xmlns:a="http://schemas.openxmlformats.org/drawingml/2006/main" prst="rect">
            <a:avLst/>
          </a:prstGeom>
        </p:spPr>
      </p:pic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6394FEC1-CC23-4582-907D-B242E5B0A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479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79CF3DF-EE84-4E13-A93F-74E7EAA14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193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  <a:hlinkClick xmlns:r="http://schemas.openxmlformats.org/officeDocument/2006/relationships" r:id="R34278a78612e43b5"/>
              </a:rPr>
              <a:t>▶ 播放视频（含字幕）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CDB6B0C4-D0E9-46F0-9BCE-46E80F30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766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32A1E1B-B45C-4BA1-A9AB-463A0D955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4480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  <a:hlinkClick xmlns:r="http://schemas.openxmlformats.org/officeDocument/2006/relationships" r:id="R48f290c061964baa"/>
              </a:rPr>
              <a:t>▶ 播放播客（16:30）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E2A8A6A8-B8B2-4565-8669-29438E355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3053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8A13A0AB-9242-4DA3-8892-23CFBAEA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767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关键画面 9 张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3B3C15A-2A34-40B8-A65D-B43851503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34000"/>
            <a:ext cx="2857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F55E373D-BD27-4752-BC11-A981BC0B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505450"/>
            <a:ext cx="2400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中文字幕 122 条</a:t>
            </a:r>
          </a:p>
        </p:txBody>
      </p:sp>
      <p:pic>
        <p:nvPicPr>
          <p:cNvPr id="46" name="图片 4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84d82f1c6e4ed7"/>
          <a:stretch xmlns:a="http://schemas.openxmlformats.org/drawingml/2006/main"/>
        </p:blipFill>
        <p:spPr>
          <a:xfrm xmlns:a="http://schemas.openxmlformats.org/drawingml/2006/main">
            <a:off x="1136483" y="2057400"/>
            <a:ext cx="5880434" cy="38862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6649072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BFD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2A647BFE-9AFB-4A21-A9D3-A37865B2F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76B1286-9676-4E9D-AABC-AF88D7DE1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8134BC30-3968-409B-A5EF-C876EACEF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53440E35-B395-4691-BE41-333766D10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191250"/>
            <a:ext cx="12192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AF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F1BD41-B3EB-4C0E-A37E-619337A4F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0050"/>
            <a:ext cx="15621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B6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BEF6D562-346E-4D04-B0E7-E6CA80441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39450" y="4953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322BA2E-FFCB-4F97-9BD8-8F1F7E3B7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0955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8158"/>
          </a:bodyPr>
          <a:lstStyle xmlns:a="http://schemas.openxmlformats.org/drawingml/2006/main"/>
          <a:p xmlns:a="http://schemas.openxmlformats.org/drawingml/2006/main">
            <a:pPr algn="l">
              <a:buNone/>
              <a:defRPr sz="57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57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让 AI 生成进入学习闭环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2AAF31B-30FF-4AD1-B14E-6EACAF5C5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38500"/>
            <a:ext cx="742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defRPr>
            </a:pPr>
            <a:r>
              <a:rPr sz="2250" b="0">
                <a:solidFill>
                  <a:srgbClr val="4B5563"/>
                </a:solidFill>
                <a:latin typeface="微软雅黑"/>
                <a:ea typeface="微软雅黑"/>
                <a:cs typeface="微软雅黑"/>
              </a:rPr>
              <a:t>可追溯 · 可个性化 · 可验证 · 可持续反馈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9552FF-1342-4A4A-B198-72BC76B7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577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424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Forgenote｜A3 个性化资源生成与学习多智能体系统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B6AAB30C-7AAA-4E40-B1A9-746FF4D5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6286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Forgenote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9FC600EB-AAA7-4881-AACA-FEC78A5FD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28650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6B7280"/>
                </a:solidFill>
                <a:latin typeface="微软雅黑"/>
                <a:ea typeface="微软雅黑"/>
                <a:cs typeface="微软雅黑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3480810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2026-07-19T08:40:26.7210000Z</dcterms:created>
  <dcterms:modified xsi:type="dcterms:W3CDTF">2026-07-19T08:40:26.7210000Z</dcterms:modified>
</coreProperties>
</file>