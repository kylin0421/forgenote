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363d30aac941de" /><Relationship Type="http://schemas.openxmlformats.org/officeDocument/2006/relationships/extended-properties" Target="/docProps/app.xml" Id="R3aaa6d299b054624" /><Relationship Type="http://schemas.openxmlformats.org/officeDocument/2006/relationships/officeDocument" Target="/ppt/presentation.xml" Id="R29757966eb884d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d282e73084e5b"/>
  </p:sldMasterIdLst>
  <p:notesMasterIdLst>
    <p:notesMasterId xmlns:r="http://schemas.openxmlformats.org/officeDocument/2006/relationships" r:id="R5500693edfbb4e93"/>
  </p:notesMasterIdLst>
  <p:sldIdLst>
    <p:sldId xmlns:r="http://schemas.openxmlformats.org/officeDocument/2006/relationships" id="256" r:id="R351d93a94d7c48fe"/>
    <p:sldId xmlns:r="http://schemas.openxmlformats.org/officeDocument/2006/relationships" id="257" r:id="R774b437cca5c44b4"/>
    <p:sldId xmlns:r="http://schemas.openxmlformats.org/officeDocument/2006/relationships" id="258" r:id="Rd935652026cd403c"/>
    <p:sldId xmlns:r="http://schemas.openxmlformats.org/officeDocument/2006/relationships" id="259" r:id="R8e84e385c99347c0"/>
    <p:sldId xmlns:r="http://schemas.openxmlformats.org/officeDocument/2006/relationships" id="260" r:id="Rc1d93bbef18a43f5"/>
    <p:sldId xmlns:r="http://schemas.openxmlformats.org/officeDocument/2006/relationships" id="261" r:id="R257bb9817122418a"/>
    <p:sldId xmlns:r="http://schemas.openxmlformats.org/officeDocument/2006/relationships" id="262" r:id="R2330655b5f4644b0"/>
    <p:sldId xmlns:r="http://schemas.openxmlformats.org/officeDocument/2006/relationships" id="263" r:id="R2d4beff667e94219"/>
    <p:sldId xmlns:r="http://schemas.openxmlformats.org/officeDocument/2006/relationships" id="264" r:id="R826e7c297af64798"/>
    <p:sldId xmlns:r="http://schemas.openxmlformats.org/officeDocument/2006/relationships" id="265" r:id="Reecfc2b85b9743a5"/>
    <p:sldId xmlns:r="http://schemas.openxmlformats.org/officeDocument/2006/relationships" id="266" r:id="Rb11fe65177a64b62"/>
    <p:sldId xmlns:r="http://schemas.openxmlformats.org/officeDocument/2006/relationships" id="267" r:id="R632c0c3525684f79"/>
    <p:sldId xmlns:r="http://schemas.openxmlformats.org/officeDocument/2006/relationships" id="268" r:id="R769654d0606e4117"/>
    <p:sldId xmlns:r="http://schemas.openxmlformats.org/officeDocument/2006/relationships" id="269" r:id="R2ca02688e22e467a"/>
    <p:sldId xmlns:r="http://schemas.openxmlformats.org/officeDocument/2006/relationships" id="270" r:id="Rdb378d78929c4cd5"/>
    <p:sldId xmlns:r="http://schemas.openxmlformats.org/officeDocument/2006/relationships" id="271" r:id="Ra76d7a48e19c4669"/>
    <p:sldId xmlns:r="http://schemas.openxmlformats.org/officeDocument/2006/relationships" id="272" r:id="R10015ee0a0684e94"/>
    <p:sldId xmlns:r="http://schemas.openxmlformats.org/officeDocument/2006/relationships" id="273" r:id="Raa98d63d0948454a"/>
    <p:sldId xmlns:r="http://schemas.openxmlformats.org/officeDocument/2006/relationships" id="274" r:id="R2e2e561a3f1a49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e421198964045" /><Relationship Type="http://schemas.openxmlformats.org/officeDocument/2006/relationships/slideMaster" Target="/ppt/slideMasters/slideMaster1.xml" Id="Rbead282e73084e5b" /><Relationship Type="http://schemas.openxmlformats.org/officeDocument/2006/relationships/notesMaster" Target="/ppt/notesMasters/notesMaster1.xml" Id="R5500693edfbb4e93" /><Relationship Type="http://schemas.openxmlformats.org/officeDocument/2006/relationships/presProps" Target="/ppt/presProps.xml" Id="R27b6a59244e2416f" /><Relationship Type="http://schemas.openxmlformats.org/officeDocument/2006/relationships/viewProps" Target="/ppt/viewProps.xml" Id="Rbd60afb3cfbc4f20" /><Relationship Type="http://schemas.openxmlformats.org/officeDocument/2006/relationships/tableStyles" Target="/ppt/tableStyles.xml" Id="R7f214b8713be413d" /><Relationship Type="http://schemas.openxmlformats.org/officeDocument/2006/relationships/slide" Target="/ppt/slides/slide1.xml" Id="R351d93a94d7c48fe" /><Relationship Type="http://schemas.openxmlformats.org/officeDocument/2006/relationships/slide" Target="/ppt/slides/slide2.xml" Id="R774b437cca5c44b4" /><Relationship Type="http://schemas.openxmlformats.org/officeDocument/2006/relationships/slide" Target="/ppt/slides/slide3.xml" Id="Rd935652026cd403c" /><Relationship Type="http://schemas.openxmlformats.org/officeDocument/2006/relationships/slide" Target="/ppt/slides/slide4.xml" Id="R8e84e385c99347c0" /><Relationship Type="http://schemas.openxmlformats.org/officeDocument/2006/relationships/slide" Target="/ppt/slides/slide5.xml" Id="Rc1d93bbef18a43f5" /><Relationship Type="http://schemas.openxmlformats.org/officeDocument/2006/relationships/slide" Target="/ppt/slides/slide6.xml" Id="R257bb9817122418a" /><Relationship Type="http://schemas.openxmlformats.org/officeDocument/2006/relationships/slide" Target="/ppt/slides/slide7.xml" Id="R2330655b5f4644b0" /><Relationship Type="http://schemas.openxmlformats.org/officeDocument/2006/relationships/slide" Target="/ppt/slides/slide8.xml" Id="R2d4beff667e94219" /><Relationship Type="http://schemas.openxmlformats.org/officeDocument/2006/relationships/slide" Target="/ppt/slides/slide9.xml" Id="R826e7c297af64798" /><Relationship Type="http://schemas.openxmlformats.org/officeDocument/2006/relationships/slide" Target="/ppt/slides/slide10.xml" Id="Reecfc2b85b9743a5" /><Relationship Type="http://schemas.openxmlformats.org/officeDocument/2006/relationships/slide" Target="/ppt/slides/slide11.xml" Id="Rb11fe65177a64b62" /><Relationship Type="http://schemas.openxmlformats.org/officeDocument/2006/relationships/slide" Target="/ppt/slides/slide12.xml" Id="R632c0c3525684f79" /><Relationship Type="http://schemas.openxmlformats.org/officeDocument/2006/relationships/slide" Target="/ppt/slides/slide13.xml" Id="R769654d0606e4117" /><Relationship Type="http://schemas.openxmlformats.org/officeDocument/2006/relationships/slide" Target="/ppt/slides/slide14.xml" Id="R2ca02688e22e467a" /><Relationship Type="http://schemas.openxmlformats.org/officeDocument/2006/relationships/slide" Target="/ppt/slides/slide15.xml" Id="Rdb378d78929c4cd5" /><Relationship Type="http://schemas.openxmlformats.org/officeDocument/2006/relationships/slide" Target="/ppt/slides/slide16.xml" Id="Ra76d7a48e19c4669" /><Relationship Type="http://schemas.openxmlformats.org/officeDocument/2006/relationships/slide" Target="/ppt/slides/slide17.xml" Id="R10015ee0a0684e94" /><Relationship Type="http://schemas.openxmlformats.org/officeDocument/2006/relationships/slide" Target="/ppt/slides/slide18.xml" Id="Raa98d63d0948454a" /><Relationship Type="http://schemas.openxmlformats.org/officeDocument/2006/relationships/slide" Target="/ppt/slides/slide19.xml" Id="R2e2e561a3f1a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480b4e326c41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92e630fee47da" /><Relationship Type="http://schemas.openxmlformats.org/officeDocument/2006/relationships/notesMaster" Target="/ppt/notesMasters/notesMaster1.xml" Id="R9caec1af8392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0087baf164148" /><Relationship Type="http://schemas.openxmlformats.org/officeDocument/2006/relationships/notesMaster" Target="/ppt/notesMasters/notesMaster1.xml" Id="Rb2afd02be222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1aa3704774d00" /><Relationship Type="http://schemas.openxmlformats.org/officeDocument/2006/relationships/notesMaster" Target="/ppt/notesMasters/notesMaster1.xml" Id="Raa10de02a8cc47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116bf9eb54ea8" /><Relationship Type="http://schemas.openxmlformats.org/officeDocument/2006/relationships/notesMaster" Target="/ppt/notesMasters/notesMaster1.xml" Id="R5be2a3b995a747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164f129e2447c6" /><Relationship Type="http://schemas.openxmlformats.org/officeDocument/2006/relationships/notesMaster" Target="/ppt/notesMasters/notesMaster1.xml" Id="Re2006fdce93d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37ccd7704d4d75" /><Relationship Type="http://schemas.openxmlformats.org/officeDocument/2006/relationships/notesMaster" Target="/ppt/notesMasters/notesMaster1.xml" Id="R8fd71c0486dd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4acb315e64ab3" /><Relationship Type="http://schemas.openxmlformats.org/officeDocument/2006/relationships/notesMaster" Target="/ppt/notesMasters/notesMaster1.xml" Id="Ra7f00f1b1ed74d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d0abb802624017" /><Relationship Type="http://schemas.openxmlformats.org/officeDocument/2006/relationships/notesMaster" Target="/ppt/notesMasters/notesMaster1.xml" Id="Rca153aa70e44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622d519974b86" /><Relationship Type="http://schemas.openxmlformats.org/officeDocument/2006/relationships/notesMaster" Target="/ppt/notesMasters/notesMaster1.xml" Id="R60114c9019b948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4e4ccf6e849a7" /><Relationship Type="http://schemas.openxmlformats.org/officeDocument/2006/relationships/notesMaster" Target="/ppt/notesMasters/notesMaster1.xml" Id="R2e5343a695c147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8ffd1e1f6b4d90" /><Relationship Type="http://schemas.openxmlformats.org/officeDocument/2006/relationships/notesMaster" Target="/ppt/notesMasters/notesMaster1.xml" Id="R8e5ec354fce744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d4aa7e223d44a5" /><Relationship Type="http://schemas.openxmlformats.org/officeDocument/2006/relationships/notesMaster" Target="/ppt/notesMasters/notesMaster1.xml" Id="R7535138a120b40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8945a97f154999" /><Relationship Type="http://schemas.openxmlformats.org/officeDocument/2006/relationships/notesMaster" Target="/ppt/notesMasters/notesMaster1.xml" Id="R64a9fb7d8b834b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a86591b92b4dcb" /><Relationship Type="http://schemas.openxmlformats.org/officeDocument/2006/relationships/notesMaster" Target="/ppt/notesMasters/notesMaster1.xml" Id="Rccc92e9fe26247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b63462055d4747" /><Relationship Type="http://schemas.openxmlformats.org/officeDocument/2006/relationships/notesMaster" Target="/ppt/notesMasters/notesMaster1.xml" Id="Rc8788bb793f344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43ca7f44934c47" /><Relationship Type="http://schemas.openxmlformats.org/officeDocument/2006/relationships/notesMaster" Target="/ppt/notesMasters/notesMaster1.xml" Id="R9f92db4e6dc042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18eae1832e40d9" /><Relationship Type="http://schemas.openxmlformats.org/officeDocument/2006/relationships/notesMaster" Target="/ppt/notesMasters/notesMaster1.xml" Id="R6a5d7a3ed9494b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34e5183ae1451b" /><Relationship Type="http://schemas.openxmlformats.org/officeDocument/2006/relationships/notesMaster" Target="/ppt/notesMasters/notesMaster1.xml" Id="R280232f3a43f47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a475652f6c446e" /><Relationship Type="http://schemas.openxmlformats.org/officeDocument/2006/relationships/notesMaster" Target="/ppt/notesMasters/notesMaster1.xml" Id="R4badac40dc38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69a3de3c349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4fa1a9b6bf4ce1" /><Relationship Type="http://schemas.openxmlformats.org/officeDocument/2006/relationships/slideLayout" Target="/ppt/slideLayouts/slideLayout1.xml" Id="R4a6ae329e49441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ae329e49441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cf8970f424b21" /><Relationship Type="http://schemas.openxmlformats.org/officeDocument/2006/relationships/notesSlide" Target="/ppt/notesSlides/notesSlide1.xml" Id="Rc4ee32693351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986ee14e4b05" /><Relationship Type="http://schemas.openxmlformats.org/officeDocument/2006/relationships/image" Target="/ppt/media/image.png" Id="R9146add2682a4c0b" /><Relationship Type="http://schemas.openxmlformats.org/officeDocument/2006/relationships/notesSlide" Target="/ppt/notesSlides/notesSlide2.xml" Id="Rf9e116def89d44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28b92c0ee4e9f" /><Relationship Type="http://schemas.openxmlformats.org/officeDocument/2006/relationships/image" Target="/ppt/media/image.jpeg" Id="R5326ef00959d47bb" /><Relationship Type="http://schemas.openxmlformats.org/officeDocument/2006/relationships/notesSlide" Target="/ppt/notesSlides/notesSlide3.xml" Id="Rc0bfb3764eb8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e8fd6fdb34104" /><Relationship Type="http://schemas.openxmlformats.org/officeDocument/2006/relationships/notesSlide" Target="/ppt/notesSlides/notesSlide4.xml" Id="R98c990415b5246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d3046f77a40d8" /><Relationship Type="http://schemas.openxmlformats.org/officeDocument/2006/relationships/notesSlide" Target="/ppt/notesSlides/notesSlide5.xml" Id="R741d738949374e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10cc21b764ae5" /><Relationship Type="http://schemas.openxmlformats.org/officeDocument/2006/relationships/notesSlide" Target="/ppt/notesSlides/notesSlide6.xml" Id="R761f3d5b0425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530e8eb9e4619" /><Relationship Type="http://schemas.openxmlformats.org/officeDocument/2006/relationships/notesSlide" Target="/ppt/notesSlides/notesSlide7.xml" Id="R14c00bc9d66e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cafadbe1d42bf" /><Relationship Type="http://schemas.openxmlformats.org/officeDocument/2006/relationships/notesSlide" Target="/ppt/notesSlides/notesSlide8.xml" Id="Rf6b423006e924d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5a88b5b484581" /><Relationship Type="http://schemas.openxmlformats.org/officeDocument/2006/relationships/notesSlide" Target="/ppt/notesSlides/notesSlide9.xml" Id="Rd42cb060a66045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a692b8234de3" /><Relationship Type="http://schemas.openxmlformats.org/officeDocument/2006/relationships/notesSlide" Target="/ppt/notesSlides/notesSlide10.xml" Id="Rc7ca1d0f004948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1b0efc6384525" /><Relationship Type="http://schemas.openxmlformats.org/officeDocument/2006/relationships/notesSlide" Target="/ppt/notesSlides/notesSlide11.xml" Id="R5d981d021d86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e9beb32bb43e3" /><Relationship Type="http://schemas.openxmlformats.org/officeDocument/2006/relationships/image" Target="/ppt/media/image2.png" Id="Rac1515e029e84bdc" /><Relationship Type="http://schemas.openxmlformats.org/officeDocument/2006/relationships/notesSlide" Target="/ppt/notesSlides/notesSlide12.xml" Id="Rcb5413f0b92f4c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ffadc35104ece" /><Relationship Type="http://schemas.openxmlformats.org/officeDocument/2006/relationships/image" Target="/ppt/media/image3.png" Id="R97a84234b564439d" /><Relationship Type="http://schemas.openxmlformats.org/officeDocument/2006/relationships/notesSlide" Target="/ppt/notesSlides/notesSlide13.xml" Id="R3ba353442aa144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42db5e274801" /><Relationship Type="http://schemas.openxmlformats.org/officeDocument/2006/relationships/image" Target="/ppt/media/image4.png" Id="R3dd480141cf3413e" /><Relationship Type="http://schemas.openxmlformats.org/officeDocument/2006/relationships/notesSlide" Target="/ppt/notesSlides/notesSlide14.xml" Id="R0a50a1301c5c44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3531fbdc6477f" /><Relationship Type="http://schemas.openxmlformats.org/officeDocument/2006/relationships/image" Target="/ppt/media/image5.png" Id="R9aea3796dbeb4922" /><Relationship Type="http://schemas.openxmlformats.org/officeDocument/2006/relationships/image" Target="/ppt/media/image6.png" Id="Rd4d61b87b9514207" /><Relationship Type="http://schemas.openxmlformats.org/officeDocument/2006/relationships/image" Target="/ppt/media/image7.png" Id="R141e5b96d6a84463" /><Relationship Type="http://schemas.openxmlformats.org/officeDocument/2006/relationships/image" Target="/ppt/media/image8.png" Id="R66e05a35b6a54277" /><Relationship Type="http://schemas.openxmlformats.org/officeDocument/2006/relationships/image" Target="/ppt/media/image9.png" Id="Rd7a19078e50e47fe" /><Relationship Type="http://schemas.openxmlformats.org/officeDocument/2006/relationships/image" Target="/ppt/media/image10.png" Id="Rb19267e38f044578" /><Relationship Type="http://schemas.openxmlformats.org/officeDocument/2006/relationships/image" Target="/ppt/media/image11.png" Id="Rf29dc1ab3c07476b" /><Relationship Type="http://schemas.openxmlformats.org/officeDocument/2006/relationships/image" Target="/ppt/media/image12.png" Id="Rd7aeaa2f77fc4cc4" /><Relationship Type="http://schemas.openxmlformats.org/officeDocument/2006/relationships/notesSlide" Target="/ppt/notesSlides/notesSlide15.xml" Id="Rc02da689fb4747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3f834b6ea472b" /><Relationship Type="http://schemas.openxmlformats.org/officeDocument/2006/relationships/image" Target="/ppt/media/image13.png" Id="R4af8f6a6ba7e4549" /><Relationship Type="http://schemas.openxmlformats.org/officeDocument/2006/relationships/image" Target="/ppt/media/image14.png" Id="Rbc642b7ee75b4964" /><Relationship Type="http://schemas.openxmlformats.org/officeDocument/2006/relationships/notesSlide" Target="/ppt/notesSlides/notesSlide16.xml" Id="Rf341f6ef135b4d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c8ae3cbbb4a6f" /><Relationship Type="http://schemas.openxmlformats.org/officeDocument/2006/relationships/image" Target="/ppt/media/image15.png" Id="Rbeced551db924707" /><Relationship Type="http://schemas.openxmlformats.org/officeDocument/2006/relationships/notesSlide" Target="/ppt/notesSlides/notesSlide17.xml" Id="R685d9be1664d4a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252fd6d7145ed" /><Relationship Type="http://schemas.openxmlformats.org/officeDocument/2006/relationships/image" Target="/ppt/media/image15.png" Id="R754f1291a42942fe" /><Relationship Type="http://schemas.openxmlformats.org/officeDocument/2006/relationships/image" Target="/ppt/media/image16.png" Id="R557a5b56a6884a4d" /><Relationship Type="http://schemas.openxmlformats.org/officeDocument/2006/relationships/notesSlide" Target="/ppt/notesSlides/notesSlide18.xml" Id="Rcfbd7379240242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5c5ebd8014916" /><Relationship Type="http://schemas.openxmlformats.org/officeDocument/2006/relationships/notesSlide" Target="/ppt/notesSlides/notesSlide19.xml" Id="Rcb2f195c402542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6E76D31-3942-4AF0-A49E-C0E90E4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7EEA4D-5BF3-4667-BA35-66457484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3314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39351E8-CBA4-46BA-AF36-0C61501F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516D724-C94D-4E64-89A5-E77028E7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中国软件杯项目答辩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2EC30A3-C210-4563-B8BF-6A817AA7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4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1A9E29-0948-41C0-A424-029C7C7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个性化学习智能体系统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320F54-91AA-420C-9A3E-58AC115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面向高校课程自主学习的资料沉淀、智能答疑与学习路径规划平台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FAB7537-42AC-40F7-B735-DD48FE8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赛题 A3｜答辩优化版｜2026.07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CCF8D4-DA9B-4F22-8309-6895BEA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49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8823C-0F72-4193-92FE-B712C34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E0A8711-F753-433E-80A9-DFC04562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57D2542-22BE-47A3-BF7D-5D9D2FC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资料沉淀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AEA5F7E-05B2-4ACA-A4E8-9A972F1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智能生成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3B992B-ECF4-4B6C-AE13-1401878E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复习闭环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2DFD45-DFED-4B1E-9A9A-0AC351A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720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</p:spTree>
    <p:extLst>
      <p:ext uri="{BB962C8B-B14F-4D97-AF65-F5344CB8AC3E}">
        <p14:creationId xmlns:p14="http://schemas.microsoft.com/office/powerpoint/2010/main" val="1793696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374D8E-9599-47E7-833B-0E619D1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C1A741C-BCCF-4A46-9EED-0389932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02E4C20-5386-4041-91BB-2445794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E3D3073-002F-4B7A-AC9F-B12AD895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8E39C7-0AF4-4C5A-BA21-CCA34CD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D655AD-5A70-4A5F-9B32-C5B3C07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0CBEE2F-2A65-4501-A923-534C9BE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标准化教学难以照顾学生差异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89417EC-4893-4D98-91E4-ED1D176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4340BF-E8D1-49E5-AF12-80CE9C9A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127117-FD15-490E-B43B-8306522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D9E1900-E602-4D0B-9403-C05B005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1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8D0D4DE-91D5-4964-9DB7-A351D523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254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学生基础不同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90AC182-5B0C-4042-810E-F0D77B1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2908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统一节奏难以同时满足补基础、提能力和拓展学习需求。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B8A1B97F-81EC-4976-BA7F-37E087C6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17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ABDD12C-331D-43EB-94BF-DF652CA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3422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资料分散难沉淀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88C6F0B-788B-455C-8840-64A74D6C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37846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课件、笔记、题目和问答记录缺少统一管理与复用入口。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F94423F2-C205-468A-8DE7-158FE98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9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4734AA-6F87-40EA-BC08-57E8301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4298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自主学习缺少规划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D40EBAA-074E-44E6-9340-A6A5943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4660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学生知道要学习，却很难判断先学什么、练什么、怎么复盘。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7C636DE-B0BB-4575-8FDB-95710DF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49194E-6BF4-48A5-B924-CAECDBE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4229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5D4DD500-19A9-45A7-A4FE-B7CEC24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5390" y="2089266"/>
            <a:ext cx="4397884" cy="3855832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6000">
                <a:srgbClr val="F2F2F2"/>
              </a:gs>
              <a:gs pos="100000">
                <a:srgbClr val="E4E4E4"/>
              </a:gs>
              <a:gs pos="80000">
                <a:srgbClr val="F1F1F1"/>
              </a:gs>
              <a:gs pos="43000">
                <a:sysClr val="window" lastClr="FFFFFF"/>
              </a:gs>
            </a:gsLst>
            <a:lin ang="8100000" scaled="1"/>
            <a:tileRect/>
          </a:gradFill>
          <a:ln xmlns:a="http://schemas.openxmlformats.org/drawingml/2006/main" w="12700" cmpd="sng">
            <a:solidFill>
              <a:sysClr val="window" lastClr="FFFFFF"/>
            </a:solidFill>
            <a:prstDash val="solid"/>
          </a:ln>
          <a:effectLst xmlns:a="http://schemas.openxmlformats.org/drawingml/2006/main">
            <a:outerShdw blurRad="393700" dist="38100" dir="5400000" algn="t" rotWithShape="0">
              <a:schemeClr val="tx1">
                <a:alpha val="37000"/>
              </a:scheme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6774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1" name="图片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6add2682a4c0b"/>
          <a:srcRect xmlns:a="http://schemas.openxmlformats.org/drawingml/2006/main" l="-17" t="118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648425" y="2204815"/>
            <a:ext cx="4128821" cy="3608609"/>
          </a:xfrm>
          <a:prstGeom xmlns:a="http://schemas.openxmlformats.org/drawingml/2006/main" prst="roundRect">
            <a:avLst>
              <a:gd name="adj" fmla="val 14907"/>
            </a:avLst>
          </a:prstGeom>
        </p:spPr>
      </p:pic>
    </p:spTree>
    <p:extLst>
      <p:ext uri="{BB962C8B-B14F-4D97-AF65-F5344CB8AC3E}">
        <p14:creationId xmlns:p14="http://schemas.microsoft.com/office/powerpoint/2010/main" val="1147936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AA7089-8B01-40CA-B8E8-9B2BE891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AEA1FB8-3F05-499E-AEAE-AF101DF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2BA93B4-4784-4D56-BCF2-526C64D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7CB54E-4B13-47E2-A4A7-C72BE3FC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CA8BE41-A21E-408B-9975-ECE605F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A5C427-7F96-487C-940D-C246852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12899AC-413C-47A3-87CB-F833B891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课后问题需要更及时、可靠的辅导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6A88752-005A-47FD-BDD0-12403B7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AC5172D-2504-4CEE-9E9E-72AB8ABB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B8C13E-55D5-450E-B61A-7B26A366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B5B3A005-417C-4B57-8868-ABDDB7D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" y="26873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A1E715-C937-49FC-B44D-6A01E1AC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59207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问题出现不定时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2B33D7D-D937-4BBA-B7FA-D196AE7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95402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学生常在课后、复习或做题时遇到具体问题。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C7F9069E-0380-4C42-9190-3488EC05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" y="35636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94F9CC-DF23-42DD-B076-8B2F5FB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346837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搜索结果难判断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C0C1E6B-235B-4383-B195-98C2BCBD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383032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普通搜索难以保证与课程资料一致，也缺少来源依据。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1EDF1893-2124-4256-B1EA-B13D939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" y="44399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95B6395-8824-4831-9BC8-09A7CD5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434467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反馈难以连续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DE98E03-D02F-4505-B336-8BEBADA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470662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一次答疑如果不能沉淀，就很难转化为后续学习计划。</a:t>
            </a:r>
          </a:p>
        </p:txBody>
      </p:sp>
      <p:sp>
        <p:nvSpPr>
          <p:cNvPr id="64" name="Freeform 5">
            <a:extLst xmlns:a="http://schemas.openxmlformats.org/drawingml/2006/main">
              <a:ext uri="{FF2B5EF4-FFF2-40B4-BE49-F238E27FC236}">
                <a16:creationId xmlns:a16="http://schemas.microsoft.com/office/drawing/2014/main" id="{5A366823-8EC0-4F11-84BE-73C6D5E5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5861" y="1720088"/>
            <a:ext cx="5214452" cy="4536913"/>
          </a:xfrm>
          <a:custGeom xmlns:a="http://schemas.openxmlformats.org/drawingml/2006/main"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xmlns:a="http://schemas.openxmlformats.org/drawingml/2006/main" w="28575" cmpd="sng">
            <a:gradFill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  <a:prstDash val="solid"/>
          </a:ln>
          <a:effectLst xmlns:a="http://schemas.openxmlformats.org/drawingml/2006/main">
            <a:outerShdw blurRad="241300" dist="127000" dir="2700000" algn="t" rotWithShape="0">
              <a:prstClr val="black">
                <a:alpha val="18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6" name="图片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6ef00959d47bb"/>
          <a:srcRect xmlns:a="http://schemas.openxmlformats.org/drawingml/2006/main" l="2687" t="0" r="2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55127" y="1988820"/>
            <a:ext cx="4576269" cy="4000500"/>
          </a:xfrm>
        </p:spPr>
      </p:pic>
    </p:spTree>
    <p:extLst>
      <p:ext uri="{BB962C8B-B14F-4D97-AF65-F5344CB8AC3E}">
        <p14:creationId xmlns:p14="http://schemas.microsoft.com/office/powerpoint/2010/main" val="1191693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0D0B2DD-1470-4C8E-BAB1-C7D5393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5DE463-A4E3-47AC-8AD3-325585C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CCCEA1-D070-44D0-96CB-A1F2DE87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BC47668-5C5C-41FA-8D57-C69BF9D1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7AF96B-E8A9-4459-A2A1-36EEE6D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687CF5-1620-445B-AEF1-A236170B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54A9E52-56D8-4A22-BA53-E1856C2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目的和内容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52FD5A4-DACB-4054-A68A-62B9CE0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项目目标：让课程学习形成可追溯的智能闭环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8C68596-31FD-4324-9A79-D4D862F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AC8585F-13F3-4E20-84FF-71622E7E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050D69-83BF-47D1-BF28-97DBAC7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11052BD-7F2E-4379-BE5B-D2FCF95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AE15602-A075-42B3-B800-F88B4B78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目标一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3DE395B-8B48-4E17-8BB2-D5EF4A3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构建可持续沉淀课程资料的智能学习工作台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65AA06B-E0AA-4D57-8E59-733E3A09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让学生把课件、笔记、资料与问答记录沉淀为长期可用的个人知识库。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8334BA0-36FA-4B33-97F6-64B157EE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573F7E3-1BEE-4286-99C1-896844E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目标二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E988744-B150-447B-8D18-9625AB2E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形成可规划、可评估、可反馈的个性化学习路径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B74D475-D07A-415E-9F8C-4B87EB0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通过画像、练习、推荐和评估，把一次性答疑变成持续学习支持。</a:t>
            </a:r>
          </a:p>
        </p:txBody>
      </p:sp>
    </p:spTree>
    <p:extLst>
      <p:ext uri="{BB962C8B-B14F-4D97-AF65-F5344CB8AC3E}">
        <p14:creationId xmlns:p14="http://schemas.microsoft.com/office/powerpoint/2010/main" val="1716998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0223055-BFAA-4B91-B58C-294C8BD2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613A48-46C7-42AA-A77D-DD06DC3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C1148BB-2A3B-4DB1-80D6-B67589A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A980EA9-A4C1-40B1-9AD0-848AE38C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98F2F9-ADC7-46C3-BFE0-65A2A286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663BD3-FA50-497F-BA36-8043FF29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D72BE55-BE22-4DEE-A4C0-F10664B4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项目功能流程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53B4999-B51C-44E5-973B-8B815ED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学习闭环从资料导入开始，并通过反馈持续迭代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A55D81-4167-4DB1-A317-26388898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BDFFB22-8E1D-46C6-83A6-725DC37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66073B0-A5B9-4F67-AC5C-F9F76634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45D618-8072-4B57-9632-AD5C495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EFC8E05-99BF-4672-AC2C-2204953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CE6CFEB-F48C-44D3-ADC2-108C8B83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资料导入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B552654-47BB-4810-9E9B-40A35D3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0609334-4E7D-40FB-98F5-6D3468F6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6E2FAF-888F-430D-BD41-165154D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0AEB3B4-EC1D-4D06-A0B8-E420C59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知识库构建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1C29DA6-566D-4C25-AA92-B3C967E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76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2E411B8-2F6E-441A-B994-E628E839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424B010-1D9E-443F-82BD-E3BC9767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2C740D-9977-4B13-951C-8971BFD6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学情画像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72E29FB-112F-41AA-BA75-484F2B4D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A47711-AA5D-47AD-B71C-2E5A8E1E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E37E338-B3C5-4A1E-A599-DAAE8B06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7E2969-B785-43B2-9618-D8AAB7C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RAG 问答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932B5EE-2D78-4286-A4B6-9892BBE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E04C996-CF98-4169-AF97-F44F60C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9AECB94-5EF9-492B-AA3C-DB8EB7F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053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资源生成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4E57640-2B8C-481D-A986-E5AB73D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72D5031-667F-46F4-8504-6A35D29D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B8904A6-D617-4B24-9B2F-B4A0D234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4BBC1A8-05FE-4508-B81A-D9B569DF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053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路径规划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0F41391-E6A9-40B3-8D52-611272C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182F7ED-81E5-4509-9FED-B3AE8C38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EE86B21-84E5-49C0-9DD4-764CFEDF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6D81B1-B757-461A-8C7B-FD66054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练习评估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6C6D02A-DA20-4552-850F-7B90895A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C942F2E-42AB-4728-84CD-D491F1A5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72218E7-92DB-4D5E-ACC5-B2B8950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29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4AF2D7D-923C-40BF-812A-06F4CA9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反馈迭代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18E3C78-4E56-4003-9709-A740D3B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721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Web / Windows WebView 展示学习结果与任务状态</a:t>
            </a:r>
          </a:p>
        </p:txBody>
      </p:sp>
    </p:spTree>
    <p:extLst>
      <p:ext uri="{BB962C8B-B14F-4D97-AF65-F5344CB8AC3E}">
        <p14:creationId xmlns:p14="http://schemas.microsoft.com/office/powerpoint/2010/main" val="1261617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254AD1C-B66E-40EE-8592-BE012888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328EE6-76C1-44B2-B248-2858420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EA5D9F-9F32-47B1-8F8E-DBF7AE7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DEA2A3A-8578-4FBE-8A82-74C6BF59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A6C661F-A45D-4464-A4B7-14D0FBA4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ECBF067-BA3A-4C59-B0FE-7A3D897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D7B36D-4B54-4741-8062-75D9A17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52863C5-8EDF-45D7-84DC-0CA10225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六维画像持续更新，让个性化有依据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282D5B-118D-44E7-966E-6EB00B4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067DCF-539E-4E2F-B33E-B8AB20CA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3D0961B-3330-4021-B6D7-E818CA19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306A015B-9734-4354-8427-B1BAFDF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1A6C722-8156-4FA3-9D6A-3CEF17E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95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专业背景 · 知识基础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84936A-C625-4788-A4E9-3B54C55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74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来自首次对话、课程切换、问答与测验表现。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377955AE-57F5-4D7B-B1DD-BF966BF3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16654A8-3A80-4121-82B8-68499F6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学习目标 · 认知风格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0362234-5A72-4149-A89C-2E6E177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13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来自目标请求、讲解/练习/代码偏好与近期事件。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1996D22B-564C-4658-92AF-5224C585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9E4B93B-8919-426D-AEA8-0A29A47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易错点 · 资源偏好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10C7297-CEAA-461B-B6DD-F126D57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由错题、失败事件、资料采纳与资产使用增量更新。</a:t>
            </a:r>
          </a:p>
        </p:txBody>
      </p:sp>
    </p:spTree>
    <p:extLst>
      <p:ext uri="{BB962C8B-B14F-4D97-AF65-F5344CB8AC3E}">
        <p14:creationId xmlns:p14="http://schemas.microsoft.com/office/powerpoint/2010/main" val="1357679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874C263-6F67-4F61-93A9-4D5B332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3CD625-78A7-4A96-9602-F0C8DDE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AF3574E-CEA9-4015-8A2A-1D7CD77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ED58A56-7E67-4F65-9A29-295A4E3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45E801-204E-4551-BFB4-3AEB007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D47295-55A6-4C9F-8205-405623B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FDC7D8D-CC9C-4248-BD97-B248D60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C51BF9-0A2D-405F-A289-E6A63A5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9 个智能体按 6 个协作域分工，按模式动态路由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BE1F3F2-BF6D-49C6-8543-A26DC428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505862B-D61C-425E-A72C-CCB128E9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2386BDC-C2E3-4511-9A37-EC6EC292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8CBD74-1719-4DBE-B781-92425BF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28777EF-1502-42EF-9480-28B40EF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画像 + 课程结构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3506BC1-F2D9-4BE3-B2A2-DEE47F7E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提取六维画像，梳理知识先修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BADA9E0-8738-4580-A424-A6A80223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8542A82-6281-49D1-BC54-76CB8CD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资源搜集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5E77FE-EEB7-46B0-B084-79B1453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查询、评分、去重，保留学生采纳权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2DFCB19-F3AB-45C8-9BFC-FDC2B89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2A6FCD-5D87-44D0-B303-7658104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资源生成 + 练习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6B56A0E-C44A-4E3B-96B6-90FFA13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生成七类资产与测验/代码实验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2996ACF-189F-4366-8FCD-A8CC8D90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32908B0-D6FE-4800-A81A-003BC92A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路径规划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A1D26A6-ABF2-4CF9-A047-C8BF7BD2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按画像安排四阶段学习路径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916384A-9B65-47F7-8923-495DEC2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9DC1C97-3B5A-44B5-8ABF-088ED56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辅导 + 评估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2BC669C-2674-4A02-AB18-FA3094F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定位错误，评估表现并建议下一步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0E4D7F0-7A54-4F42-BFE8-F24E24E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304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84B0D97-D766-4362-AD40-635C49C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安全校验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12BBA9-7132-4068-B1F6-95EF768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核验来源、安全边界与输出质量</a:t>
            </a:r>
          </a:p>
        </p:txBody>
      </p:sp>
    </p:spTree>
    <p:extLst>
      <p:ext uri="{BB962C8B-B14F-4D97-AF65-F5344CB8AC3E}">
        <p14:creationId xmlns:p14="http://schemas.microsoft.com/office/powerpoint/2010/main" val="614494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455AA44-9CDB-49E8-B395-0D17F664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71DB8E9-1CE0-4126-B5FC-D0C4363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C41C23-0435-4274-97B7-5D8C555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C2DBBFA-66F2-43E9-9890-9C02C34B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C1278C-9CF6-43AA-A5DD-8357C13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CF8D41-F93D-439D-922D-C9E90D2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1EADE09-713C-4FE3-AEC2-A1663BF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16DE57-0527-48FD-850F-2F489C8F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来源优先 + 空来源硬阻断：把防幻觉变成系统约束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B8F375-09B2-4491-BDE7-634BE0B1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C000A9-1225-491B-9287-7BA8479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8C7435D-AEFD-4D91-8012-5B291F6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E626E2D7-6E5E-4E83-B7F7-B06C850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48BE55B-4726-4964-96AF-3FA4B5FE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95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来源优先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F3CF32F-6D10-4A90-95C4-3C6F7CF2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74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只用已接受来源构建上下文，并保留引用线索。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29C01B1A-8527-4341-B15D-0206053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97F068-C4D7-4E48-87AE-A8C1B91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结构校验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A8D78A2-4D7B-4741-AC3C-B873E6E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13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Quiz、闪卡、导图与 Markdown 入库前校验修复。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B1524B12-CB5E-460C-A75C-49A6CBD4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7D41E2-96DC-4F77-9514-3A347611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硬阻断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9E0B55-0536-45AF-9BC1-46083D8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已选来源无正文时返回空资产，不用模型常识补写。</a:t>
            </a:r>
          </a:p>
        </p:txBody>
      </p:sp>
    </p:spTree>
    <p:extLst>
      <p:ext uri="{BB962C8B-B14F-4D97-AF65-F5344CB8AC3E}">
        <p14:creationId xmlns:p14="http://schemas.microsoft.com/office/powerpoint/2010/main" val="1268906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D50A2FF-15EF-46F7-AB7E-FF5D3A1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DAE4A7-BDD7-47B9-8E60-166BA14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5A2A77-877F-4556-9E2E-90C985D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8D6914C-9DB0-4240-86CC-3491B24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8B9B230-304D-4B0F-9A0E-751C5F46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5F7769-079D-4675-A0AE-8BD8FDD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1EF5F5-41B3-4439-8A30-5EEDD53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8B1C071-168E-443D-9FEB-93BB41F2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系统架构围绕学习入口、AI 能力和数据沉淀展开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556387-6CB9-4A4E-834D-D46B0032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A8FD4C9-55AA-43A1-895E-C9BCD760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2A18C80-4ED0-4F97-A671-0E2079C7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781821D-1AB8-4193-B707-697E58A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05289E-3FF1-4DA9-98B9-1BFAE58C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24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用户层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69299C2-AEBC-4E4E-8CD3-3AA5371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240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学生 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FCB1453-8F3C-49F8-B7F8-052FE588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EABBA9C-9161-4077-ACD2-FD9256F4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2E55199-6507-48C6-B30A-E3F514B0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前端层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4AB68B-FC00-43C1-BC0B-40D578B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67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Next.js 学习工作台 / Windows WebView 桌面端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193749E-F0CD-4F7E-BAEC-E0B9827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C93D994-3476-4DAD-93AD-882FB55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21BA232-8625-4A95-9195-0C644C13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9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033276-B24C-4885-B1E9-1160D285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99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FastAPI 接口、任务调度、学习记录管理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4BE094F-6958-4772-9A71-E80C077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92E886D-86AB-4AD8-9877-7010443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C3527ED-ADAE-4311-BC90-8DACF1D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529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AI 能力层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EE32DE5-8DDF-4E24-9D1A-4F291A77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52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RAG、Embedding、多智能体、TTS/STT、图片生成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1627BC5-AD3A-414C-AA8C-0757727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ED5FFE9-BA33-4E26-ABFB-19B1168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2C92F4A-7227-47FF-9C33-39C4D52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95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C29FABE-C61F-4852-AD9A-9F4E4AB7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95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SurrealDB、课程资料库、向量索引、画像与反馈记录</a:t>
            </a:r>
          </a:p>
        </p:txBody>
      </p:sp>
    </p:spTree>
    <p:extLst>
      <p:ext uri="{BB962C8B-B14F-4D97-AF65-F5344CB8AC3E}">
        <p14:creationId xmlns:p14="http://schemas.microsoft.com/office/powerpoint/2010/main" val="2093674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A0056-D4A9-47CF-9943-F64BA9CA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F6B679-89D0-47E1-99F7-F06C04B9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2DBF7EA-D9AF-45FE-B30C-308903AD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C79A4E-1FF9-4557-91E7-7ECFEBF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DE7380-B636-40B9-8E70-0538FB43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EF9BBD-E904-4D38-9280-247F022A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EB7B71-8DCD-4C6E-9B99-F3D90E5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1CDE8F-83D4-49FF-90BB-4DC9A32B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技术选型支撑模型分工、媒体合成与桌面交付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132714-006A-46BE-B407-79BD5FA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14130BA-490F-4D28-B6A0-7F8F4FAB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44AD4F7-5050-4DD3-B0D6-58B6E1C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06C44A-AB95-42F5-83CA-6460B64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24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55F59F-DC1B-4E44-9A30-CB00CE6D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前端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C4A3073-1949-4A92-941E-E7997D9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866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Next.js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学习工作台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Markdown 渲染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任务进度反馈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1DCABF2-F308-41D4-B938-0B6F29B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24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F7C7649-4D7A-4E70-A0D1-51AE60BB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后端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357D3B2-25A0-4144-89FA-9E5FE0A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866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FastAPI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接口服务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任务调度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Docker 部署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7BCB661-A91F-4ACF-97F6-0D4EE2D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324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E55CF21-BADB-4D65-AF15-D96ECD58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703804-1B6F-420F-8590-CC839DB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866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SurrealDB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资料索引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画像记录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练习反馈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EB212C1-DCFB-4A31-83E6-EC95A0B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324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E8229B9-F4EC-4020-9B3E-E9CF5CF5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AI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FAC216-CBE3-4BB8-BE66-6F97933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1866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OpenAI 兼容协议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文本 / 图片 / TTS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RAG / Embedding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FFmpeg 本地视频合成</a:t>
            </a:r>
          </a:p>
        </p:txBody>
      </p:sp>
    </p:spTree>
    <p:extLst>
      <p:ext uri="{BB962C8B-B14F-4D97-AF65-F5344CB8AC3E}">
        <p14:creationId xmlns:p14="http://schemas.microsoft.com/office/powerpoint/2010/main" val="249296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FBF1C00-AB6A-400A-A12E-1488A191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8862629-2E66-4AA1-8E5D-8BA8B9C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8185CD-A384-48E1-8010-A527263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47AA2CB-2A38-4C09-94A2-8AFA6253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528315-265A-401E-A3C0-044531E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130D41-C43A-46F8-8B08-877052E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264E9E8-877D-4473-A7EA-5F5107B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模块介绍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6CF65E6-C468-4AC0-AF35-FA4D5ED0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创新聚焦可追溯、可个性化、可验证、可扩展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2708ED0-D063-40C6-AC2A-66C8A8C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6F68000-8671-4365-AABB-188ADE5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24CD3F4-3796-46C5-A061-B2D6A9F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8B065244-C75E-4157-98E3-424B400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E140D55-E497-41EA-B4E6-F4F75FE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95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画像即来源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A71F7C-7902-4CDA-AF76-13D5CB7F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74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6 维画像可查、可改、可随学更新。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FF8FF97C-38A5-4AE8-AE86-ACBDF14E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A3DF0D7-F49E-44A8-A59E-898A6B75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9 角色模式路由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ED404AD-CCAD-4B60-B2CA-BD6A666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13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chat / collect / generate 只激活必要角色。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9CCB80CA-8647-4B83-A282-83F7970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7BFA9A3-C21C-4A0F-8665-C49E61FE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真实语音时间轴讲解视频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63A8F6-EA69-4F0A-B56A-3457DCF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脚本同步给出视觉提示；图片按 TTS 时间点由 FFmpeg 合成 MP4。</a:t>
            </a:r>
          </a:p>
        </p:txBody>
      </p:sp>
    </p:spTree>
    <p:extLst>
      <p:ext uri="{BB962C8B-B14F-4D97-AF65-F5344CB8AC3E}">
        <p14:creationId xmlns:p14="http://schemas.microsoft.com/office/powerpoint/2010/main" val="396139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DBBB712-5DEC-464F-88FE-50895F70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7E7B1E-55F5-4352-A356-F48E68B4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6D050C5-E014-49CE-B8D4-D812B44F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6520B2-1D85-4DEA-98CE-0B7BF4D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2B398EE-C307-420F-AED3-B21B788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E807AA2-60A2-40CD-9370-E4D8AC7B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072DD6-D1EF-442F-A2EC-9B2D95D2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FE0FAD0-9FC8-4633-A41E-6DA4D50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工作台展示：来源、问答与 Studio 并行协作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1D8B33C-D3D5-4C31-8F5E-D4B5ED58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ADF3253-3675-48B7-8070-B3F8F28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235D93-CD9C-40CD-8176-32EBD54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F612FBF-C8D7-4662-9CB7-2678C45C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515e029e8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095" y="2057400"/>
            <a:ext cx="6533211" cy="3886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4759E48-992C-4997-8137-CD45DA7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88BE9F4-B9CD-47DB-B79D-D80021F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来源管理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36D1DB-7BC1-4811-81C8-7922123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1A1D656-59B2-469B-B309-AEBC705A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资料问答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E2FED8D-AD17-4ACD-AE65-FFBFF21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CA6BCF4-3BA6-420B-A07A-4BB5C90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Studio 资产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83BE8B7-6D4B-44F3-94FF-1273FC6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3322885-9C0A-40BA-8F76-6D9028B1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引用依据</a:t>
            </a:r>
          </a:p>
        </p:txBody>
      </p:sp>
    </p:spTree>
    <p:extLst>
      <p:ext uri="{BB962C8B-B14F-4D97-AF65-F5344CB8AC3E}">
        <p14:creationId xmlns:p14="http://schemas.microsoft.com/office/powerpoint/2010/main" val="46699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D5BC75F-0628-4705-81C8-263C1E77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2B5B405-E444-40B2-A683-ED1C2E2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D01AB3-3B64-4FDF-9649-8D1FF911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CF1BCB4-BE26-4AAA-A590-4FB8BE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5794868-1E9E-401D-BFC3-B9B5237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6F790E-1F82-4370-9B20-A41FC652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325B6A3-568A-467E-8C62-6D78F595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5211ECD-935D-404D-A4BF-4613FE7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来源添加展示：多格式资料进入知识库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2DEB37C-0D3C-4AE6-8FD7-45CB682E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6D48CFE-9D99-4FB6-A7BA-AB9A02A2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FF67026-DBBB-4015-9CCA-14D43FEA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FA3C620-7AB7-49E8-A060-94FBF87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84234b56443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9321" y="2057400"/>
            <a:ext cx="4134759" cy="3886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D04C83E-B941-4D4B-A1E2-B017C9A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E9521A1-CA3A-4F90-836A-D59DA6B8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上传文件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CE67EC2-E861-40D9-B2B3-84266F8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5A9B93-3B16-48A5-8F2F-CEA9B54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添加 URL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49C341B-6621-416A-B925-88A3757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71C0AA7-DB28-477C-8674-BC42F311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输入文本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2A460B9-2A8F-4115-8954-2653C42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8F4BD81-8B70-4FCE-8897-D1A5F9CD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语音识别</a:t>
            </a:r>
          </a:p>
        </p:txBody>
      </p:sp>
    </p:spTree>
    <p:extLst>
      <p:ext uri="{BB962C8B-B14F-4D97-AF65-F5344CB8AC3E}">
        <p14:creationId xmlns:p14="http://schemas.microsoft.com/office/powerpoint/2010/main" val="1026422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62CD26F-2749-4A3A-9043-FF0AB3F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C33999-F141-487B-AF14-5818ED1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7C223E-44E6-4C68-9650-1040C20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0F47D-4016-4925-92B1-E1349B6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4D74606-A955-4491-AC13-30F85AA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4C52D61-410E-45DF-9DC2-66E60C4F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B47A497-DBF0-4C4C-9708-C7F06FE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A0BF6A8-0170-414A-B8B1-EAF1886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模型配置展示：多模型能力按学习用途分配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F01B0E2-4AD3-4515-9C18-261A39D3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ACF16D8-623E-481F-A831-CA7A086B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A1DA108-3DAA-4432-804C-589B43E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A23B38-F876-4BC3-9E4D-8A944FC9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480141cf3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059" y="2057400"/>
            <a:ext cx="6503281" cy="3886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4CCD1B-9887-4532-928C-E9D8976E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80A419C-3AA4-4101-A7ED-46EA806E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文本模型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EF6057B-EE2C-45FE-8FD7-4044A903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77DE1C8-94CA-454A-AC18-ED02DEE6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Embedding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C1C1CE-3078-42C9-96F6-532BCCE5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557654B-6FF5-4D35-BF7B-FBE1702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图片模型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8033997-429D-4AE4-9C23-AC21314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BAE662-928E-4768-BCE1-BA231EE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TTS / STT</a:t>
            </a:r>
          </a:p>
        </p:txBody>
      </p:sp>
    </p:spTree>
    <p:extLst>
      <p:ext uri="{BB962C8B-B14F-4D97-AF65-F5344CB8AC3E}">
        <p14:creationId xmlns:p14="http://schemas.microsoft.com/office/powerpoint/2010/main" val="832949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31A16BA-4664-43A9-9656-A35029FA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FCF5E2-1B1B-448D-9994-90F97A2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A7C37B-8356-472C-B856-0D63606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B46342D-58FB-4AAD-9A24-51DA2D9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1BFAB01-2A50-401A-8CE9-1196C415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D392AB-B8AF-4C12-8184-453EE08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791231-D0C9-4977-8874-5588EF4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1AC2FD-2B73-4644-A564-D555909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Studio 展示：7 类编排资产 + 播客 / 讲解视频管线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5485A7-5B77-49DF-A798-98A3E25B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182793-E404-4525-B4C8-BB3097DC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17CF4D-FF06-4BCC-B98D-E08CDB9E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0AE6E18-8144-4E1E-8414-57A32E2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7 类资产共享画像与来源约束；播客脚本同步规划关键画面，并按真实语音时间轴合成本地 MP4。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6C81639-9983-4AA8-A6C8-3F449F1B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558CF36-9A12-47E6-90CA-A4912A5A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课程学习讲解</a:t>
            </a:r>
          </a:p>
        </p:txBody>
      </p:sp>
      <p:pic>
        <p:nvPicPr>
          <p:cNvPr id="60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3796dbeb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6749" y="2371725"/>
            <a:ext cx="1399352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710FA2-C562-4929-A1FD-87EF70F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BCD5E-A4AC-46A9-8F33-816E1EA0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47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</p:txBody>
      </p:sp>
      <p:pic>
        <p:nvPicPr>
          <p:cNvPr id="63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61b87b9514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1350" y="2371725"/>
            <a:ext cx="1904201" cy="1333500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EDBF8A0-3289-4462-95E6-706BB92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074D019-3752-4E50-AD87-0B7CB9E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闪卡</a:t>
            </a:r>
          </a:p>
        </p:txBody>
      </p:sp>
      <p:pic>
        <p:nvPicPr>
          <p:cNvPr id="66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e5b96d6a8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3445" y="2371725"/>
            <a:ext cx="2354060" cy="133350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CC74DA-BD66-461E-BC6F-57A162F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9872039-F422-43F9-8ABB-E84F889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47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思维导图</a:t>
            </a:r>
          </a:p>
        </p:txBody>
      </p:sp>
      <p:pic>
        <p:nvPicPr>
          <p:cNvPr id="69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05a35b6a5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3302" y="2371725"/>
            <a:ext cx="1148397" cy="1333500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1C1A3A5-DB0D-4354-BC50-E56561D1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F8CDA54-9F1D-428F-B075-C2C5177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扩展阅读</a:t>
            </a:r>
          </a:p>
        </p:txBody>
      </p:sp>
      <p:pic>
        <p:nvPicPr>
          <p:cNvPr id="72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19078e50e47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2973" y="4486275"/>
            <a:ext cx="1406904" cy="1333500"/>
          </a:xfrm>
          <a:prstGeom xmlns:a="http://schemas.openxmlformats.org/drawingml/2006/main" prst="rect">
            <a:avLst/>
          </a:prstGeom>
        </p:spPr>
      </p:pic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D6479C5-93C2-4B0D-BA74-1525652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F9E2921-DD24-442F-A6A5-AE739FF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624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代码实验室</a:t>
            </a:r>
          </a:p>
        </p:txBody>
      </p:sp>
      <p:pic>
        <p:nvPicPr>
          <p:cNvPr id="75" name="图片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267e38f044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1946" y="4486275"/>
            <a:ext cx="1583007" cy="1333500"/>
          </a:xfrm>
          <a:prstGeom xmlns:a="http://schemas.openxmlformats.org/drawingml/2006/main" prst="rect">
            <a:avLst/>
          </a:prstGeom>
        </p:spPr>
      </p:pic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73F5E95-1E00-4A0B-907D-1098B13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717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2769600-C87C-45D0-9D98-A2B48F75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624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辅助图片理解</a:t>
            </a:r>
          </a:p>
        </p:txBody>
      </p:sp>
      <p:pic>
        <p:nvPicPr>
          <p:cNvPr id="78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dc1ab3c0747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397" y="4486275"/>
            <a:ext cx="1160156" cy="1333500"/>
          </a:xfrm>
          <a:prstGeom xmlns:a="http://schemas.openxmlformats.org/drawingml/2006/main" prst="rect">
            <a:avLst/>
          </a:prstGeom>
        </p:spPr>
      </p:pic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9618200-6392-4116-9A15-9C382C86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67175"/>
            <a:ext cx="2647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9DD4137-6A71-4F40-A076-556DFFE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624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播客 / 讲解视频</a:t>
            </a:r>
          </a:p>
        </p:txBody>
      </p:sp>
      <p:pic>
        <p:nvPicPr>
          <p:cNvPr id="81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eaa2f77fc4cc4"/>
          <a:srcRect xmlns:a="http://schemas.openxmlformats.org/drawingml/2006/main" l="0" t="1947" r="0" b="1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7639" y="4486275"/>
            <a:ext cx="1159723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59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FDCE2F4-C3B2-40DE-9E00-5BD7B0EA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D9E9D88-EBA3-44AC-A9D9-7F2049B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EE730D-09DA-444A-8002-58D9FD9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1E0A07F-7922-43C6-8F0C-6C675C1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11CF76-A917-44E4-8ABA-67C6D87D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F614C33-1046-459F-B63A-E3A56D6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923109-01D7-4ACB-A0A2-15B61E7C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B8FB59-38A0-4626-B4F4-FB348B5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错题本展示：错题自动沉淀并进入再练习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60E7C2-DFE5-46D6-B119-42844CE8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86D865E-DCCF-4EF6-898F-FE493A4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DA5D675-23D9-4E79-9957-B59B2E6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3B810E2-A153-46CB-B3AD-137CFF3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系统把测验中的薄弱点沉淀为可筛选、可收藏、可复练的错题资产。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78D6D8D-E892-4AC5-834B-5A1A8278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1C1339-A4F5-437B-8853-312C4A9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错题沉淀与筛选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179E21D-0CF9-4D1C-9FF2-D24F1700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统计全部/当前/收藏错题，按笔记本和测验资产定位来源。</a:t>
            </a:r>
          </a:p>
        </p:txBody>
      </p:sp>
      <p:pic>
        <p:nvPicPr>
          <p:cNvPr id="39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8f6a6ba7e4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91737" y="2828925"/>
            <a:ext cx="2855426" cy="2857500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25BAEB0-53BB-468B-B513-3FA1D09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FF7AF5E-889C-4C6B-B3EC-CB6F4EA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85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重新练习与解析反馈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F09613F-9073-4C7A-862F-085E3D03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982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支持原题复练、相似练习、正确答案解析和错题本移出。</a:t>
            </a:r>
          </a:p>
        </p:txBody>
      </p:sp>
      <p:pic>
        <p:nvPicPr>
          <p:cNvPr id="43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42b7ee75b49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0586" y="2828925"/>
            <a:ext cx="4443927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341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4D175E0-D4C5-4E8D-90F8-F137DCD5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70F9C28-8A6D-450B-8C2D-2690E676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CD7CE6-53C3-4989-80B8-41324B2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C48E2D-41BE-4D9B-9645-B30B943D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ECBD5E-C4B9-41D6-B4D5-2B2BB7D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D9F2F3-19C7-4653-A5B1-1E2B0E8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D9146D5-2605-4C58-A1B1-86D88AA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D33BC0A-2CCD-4B67-A43C-04968216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真实测试证据：A3 与讲解视频专项均 8 / 8 通过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4124EB-E5ED-4C4B-9173-A1F843D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9A64B9-11DF-4900-BB7B-931C19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499FDC-40CE-4D35-A924-8B7852E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69CA641-1D69-49A5-BCE1-E25711B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ed551db9247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136483" y="2057400"/>
            <a:ext cx="5880434" cy="3886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394FEC1-CC23-4582-907D-B242E5B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79CF3DF-EE84-4E13-A93F-74E7EAA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A3 专项 8 / 8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DB6B0C4-D0E9-46F0-9BCE-46E80F3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32A1E1B-B45C-4BA1-A9AB-463A0D9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视频专项 8 / 8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2A8A6A8-B8B2-4565-8669-29438E3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A13A0AB-9242-4DA3-8892-23CFBAE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后端 282 passed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3B3C15A-2A34-40B8-A65D-B4385150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55E373D-BD27-4752-BC11-A981BC0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前端 55 tests passed</a:t>
            </a:r>
          </a:p>
        </p:txBody>
      </p:sp>
    </p:spTree>
    <p:extLst>
      <p:ext uri="{BB962C8B-B14F-4D97-AF65-F5344CB8AC3E}">
        <p14:creationId xmlns:p14="http://schemas.microsoft.com/office/powerpoint/2010/main" val="19466490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4D175E0-D4C5-4E8D-90F8-F137DCD5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70F9C28-8A6D-450B-8C2D-2690E676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CD7CE6-53C3-4989-80B8-41324B2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C48E2D-41BE-4D9B-9645-B30B943D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ECBD5E-C4B9-41D6-B4D5-2B2BB7D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D9F2F3-19C7-4653-A5B1-1E2B0E8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D9146D5-2605-4C58-A1B1-86D88AA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效果展示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D33BC0A-2CCD-4B67-A43C-04968216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真实课程样例：16 分钟播客与讲解视频已生成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4124EB-E5ED-4C4B-9173-A1F843D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9A64B9-11DF-4900-BB7B-931C19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499FDC-40CE-4D35-A924-8B7852E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69CA641-1D69-49A5-BCE1-E25711B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f1291a429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136483" y="2057400"/>
            <a:ext cx="5880434" cy="3886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394FEC1-CC23-4582-907D-B242E5B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79CF3DF-EE84-4E13-A93F-74E7EAA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完整播客 16:30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DB6B0C4-D0E9-46F0-9BCE-46E80F3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32A1E1B-B45C-4BA1-A9AB-463A0D9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中文讲解 33 段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2A8A6A8-B8B2-4565-8669-29438E3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A13A0AB-9242-4DA3-8892-23CFBAE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关键画面 9 张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3B3C15A-2A34-40B8-A65D-B4385150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55E373D-BD27-4752-BC11-A981BC0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视频 1280 × 720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a5b56a6884a4d"/>
          <a:stretch xmlns:a="http://schemas.openxmlformats.org/drawingml/2006/main"/>
        </p:blipFill>
        <p:spPr>
          <a:xfrm xmlns:a="http://schemas.openxmlformats.org/drawingml/2006/main" flipH="0" flipV="0">
            <a:off x="1136483" y="2057400"/>
            <a:ext cx="5880434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49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647BFE-9AFB-4A21-A9D3-A37865B2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6B1286-9676-4E9D-AABC-AF88D7D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134BC30-3968-409B-A5EF-C876EACE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3440E35-B395-4691-BE41-333766D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F1BD41-B3EB-4C0E-A37E-619337A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F6D562-346E-4D04-B0E7-E6CA804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5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322BA2E-FFCB-4F97-9BD8-8F1F7E3B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让 AI 生成进入学习闭环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AAF31B-30FF-4AD1-B14E-6EACAF5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可追溯 · 可个性化 · 可验证 · 可持续反馈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9552FF-1342-4A4A-B198-72BC76B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ForgeNote｜A3 个性化资源生成与学习多智能体系统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6AAB30C-7AAA-4E40-B1A9-746FF4D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forgenote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FC600EB-AAA7-4881-AACA-FEC78A5F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8081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2026-07-19T06:53:26.8820000Z</dcterms:created>
  <dcterms:modified xsi:type="dcterms:W3CDTF">2026-07-19T06:53:26.8820000Z</dcterms:modified>
</coreProperties>
</file>